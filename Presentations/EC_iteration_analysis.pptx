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3699"/>
  </p:normalViewPr>
  <p:slideViewPr>
    <p:cSldViewPr snapToGrid="0">
      <p:cViewPr varScale="1">
        <p:scale>
          <a:sx n="119" d="100"/>
          <a:sy n="119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20AB-FEDB-2231-627A-08F1B3284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65AE1-FFC3-FF7C-8FEC-1441E758E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C7889-A576-390C-05B0-BD358E62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51FB0-A9FE-116F-82FD-F80225E2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5345F-AB25-1655-7199-B30FFB0E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79BF-18EA-2FFA-E313-AC60242B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2AFF-A631-5ADB-8E05-395C2C20E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DF318-D14C-A141-1C2A-612FEC39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1056D-B40F-F944-7C45-06CBE04A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99FD5-1AB3-9636-89DE-6FCB55B7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8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497B-03FB-BA3C-031C-3C097155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FE009-089C-1C61-C8E2-D53A12372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FD880-F915-EC47-49D1-8EBB23BF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877E5-9D8A-B67C-4A16-C1D7DB60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A7B67-55D1-0502-51A0-19B0A6F4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4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3022-0E42-D89B-580D-45873F0A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4101E-CB33-4122-446D-37848209C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3ED8C-13C3-CC51-FB0E-9E19F0CCB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857B8-607B-4EA9-EB59-171F2CD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53E55-9797-A90C-0DCD-07CC1926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7D633-D114-8A48-A739-E97DC70C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0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8F75-C3A5-A718-6799-F3925E76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2AEB1-1A0A-D892-AA6A-2F0E092C0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519C6-B35A-453E-46D5-5388A7C0F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0BCF-3886-E491-FC12-BB3CA9002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9CB27-6D76-795A-2D8E-5DA6DFEF4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79D5C-E672-107B-2E46-AA0F5AC5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C25A5D-ACD4-4726-75DD-E64783CD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720E9-EE93-420E-B984-FFB03AEE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21BD-15ED-001D-7D5A-9E173D906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83B1E-8319-ED6A-E58A-0A5BC2A1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B39CF-2EEF-201E-79FE-262B251A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A1B6E-3F0F-1501-B35F-A123794A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6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A47F6-76BA-B889-DFE3-C7A93EEE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4FF3D-EE83-5F94-27D7-CE36B07C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C34AA-FA9E-49BB-99B2-CB78C19A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1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9AEE-61FA-4950-8B97-09F8B75B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DCCBC-143C-369B-93C6-0DA9FFC7E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8355E-8B75-DFE9-D83F-3A43C127D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7245E-4F48-165D-351C-5999E457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15586-CA05-9878-B788-62FEAF34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38B11-C3D2-EEF2-25DA-5F38AD1D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7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6EF6-7F1C-5FA1-27DA-9F0374DB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BFB2E-F120-DBFE-BE84-0FA8C0931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F8766-E41C-2E8B-8425-19CAD3759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8BD92-BBDC-8024-6EEE-6B1322C2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BAC41-1363-258C-55F0-7F91ACE0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604D-91D1-7168-4FFE-5371B813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A2B1-20E7-FA5D-428F-054D2DDF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3C54D-66D6-E6C1-BEC8-D36755D69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6374-A14A-5564-4379-45F81642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2094-E79E-1294-A4FE-1BD570C8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9129E-EE1A-A1D9-9563-91443CB7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5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63458-CD73-F34C-302D-D40695EDA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E0A2B-0B2A-F36F-CC76-6D2F7E818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5727-2DB2-D37B-79F3-B577515E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E4030-4031-DD6B-713A-8597BB9F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97611-5D53-2BA7-8F9B-F697368E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9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2EE6-CED3-47C7-D2C2-56276AFA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C16F0-5B27-3F1E-ED42-FDCE44DEA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17A73-9769-94EE-392E-2C6FA6C18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1150C-8B20-4A44-8B70-320104018D32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A012-F40B-A783-CAB9-5CD59960D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0B89D-2961-81BD-932E-9C8BA3839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E97BD-8FF7-3C48-89CC-C4BB47E4F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4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DE5C-F6B3-3B68-6AB0-C3A9C666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Castor HSP ‘edge cost’ iteration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1C6C5-7516-6BC9-81FA-6D3C909B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21" y="1955799"/>
            <a:ext cx="7429500" cy="42876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AB6076-4FAE-CE1F-8E8B-BF56AAEDF9B8}"/>
              </a:ext>
            </a:extLst>
          </p:cNvPr>
          <p:cNvSpPr txBox="1"/>
          <p:nvPr/>
        </p:nvSpPr>
        <p:spPr>
          <a:xfrm>
            <a:off x="7683742" y="4608538"/>
            <a:ext cx="238353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E. </a:t>
            </a:r>
            <a:r>
              <a:rPr lang="en-US" dirty="0" err="1"/>
              <a:t>Tayi</a:t>
            </a:r>
            <a:r>
              <a:rPr lang="en-US" dirty="0"/>
              <a:t> (2)</a:t>
            </a:r>
          </a:p>
          <a:p>
            <a:pPr marL="342900" indent="-342900">
              <a:buAutoNum type="alphaUcPeriod"/>
            </a:pPr>
            <a:r>
              <a:rPr lang="en-US" dirty="0" err="1"/>
              <a:t>Finegoldii</a:t>
            </a:r>
            <a:endParaRPr lang="en-US" dirty="0"/>
          </a:p>
          <a:p>
            <a:r>
              <a:rPr lang="en-US" dirty="0"/>
              <a:t>S. </a:t>
            </a:r>
            <a:r>
              <a:rPr lang="en-US" dirty="0" err="1"/>
              <a:t>Wadsworthensis</a:t>
            </a:r>
            <a:r>
              <a:rPr lang="en-US" dirty="0"/>
              <a:t> (3)</a:t>
            </a:r>
          </a:p>
          <a:p>
            <a:r>
              <a:rPr lang="en-US" dirty="0"/>
              <a:t>P. </a:t>
            </a:r>
            <a:r>
              <a:rPr lang="en-US" dirty="0" err="1"/>
              <a:t>distasonis</a:t>
            </a:r>
            <a:r>
              <a:rPr lang="en-US" dirty="0"/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4BCF2-ACF2-1BB7-1729-6B25FFDBCD28}"/>
              </a:ext>
            </a:extLst>
          </p:cNvPr>
          <p:cNvSpPr txBox="1"/>
          <p:nvPr/>
        </p:nvSpPr>
        <p:spPr>
          <a:xfrm rot="19078192">
            <a:off x="4482352" y="4380551"/>
            <a:ext cx="98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 ASVs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596ACC-B942-4D4D-285E-D3E988619653}"/>
              </a:ext>
            </a:extLst>
          </p:cNvPr>
          <p:cNvSpPr/>
          <p:nvPr/>
        </p:nvSpPr>
        <p:spPr>
          <a:xfrm>
            <a:off x="4772416" y="4897677"/>
            <a:ext cx="325677" cy="6889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6CEF7C4-EE06-5793-2FE3-9A4F66F8D704}"/>
              </a:ext>
            </a:extLst>
          </p:cNvPr>
          <p:cNvCxnSpPr>
            <a:stCxn id="5" idx="2"/>
            <a:endCxn id="4" idx="2"/>
          </p:cNvCxnSpPr>
          <p:nvPr/>
        </p:nvCxnSpPr>
        <p:spPr>
          <a:xfrm rot="5400000">
            <a:off x="6706889" y="4074849"/>
            <a:ext cx="434604" cy="3902640"/>
          </a:xfrm>
          <a:prstGeom prst="bentConnector3">
            <a:avLst>
              <a:gd name="adj1" fmla="val 1526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DF167C-B4FD-691F-9043-0B2FB1F02C3E}"/>
              </a:ext>
            </a:extLst>
          </p:cNvPr>
          <p:cNvSpPr txBox="1"/>
          <p:nvPr/>
        </p:nvSpPr>
        <p:spPr>
          <a:xfrm>
            <a:off x="2821186" y="1779005"/>
            <a:ext cx="484504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14 ASVs do not have identical EC count to their </a:t>
            </a:r>
          </a:p>
          <a:p>
            <a:r>
              <a:rPr lang="en-US" dirty="0"/>
              <a:t>Mapped genome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6DA471E-AD7C-2D86-2CD8-CBCB947315F6}"/>
              </a:ext>
            </a:extLst>
          </p:cNvPr>
          <p:cNvCxnSpPr>
            <a:cxnSpLocks/>
          </p:cNvCxnSpPr>
          <p:nvPr/>
        </p:nvCxnSpPr>
        <p:spPr>
          <a:xfrm rot="5400000">
            <a:off x="2728756" y="2517767"/>
            <a:ext cx="766632" cy="5817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449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653B15D-E9DA-60CF-642D-FAD214195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534" y="140877"/>
            <a:ext cx="9798934" cy="65762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A873B6-1A63-C11C-659F-BCDB971C5659}"/>
              </a:ext>
            </a:extLst>
          </p:cNvPr>
          <p:cNvCxnSpPr/>
          <p:nvPr/>
        </p:nvCxnSpPr>
        <p:spPr>
          <a:xfrm flipH="1" flipV="1">
            <a:off x="6736466" y="3321934"/>
            <a:ext cx="509286" cy="312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C9E12B-9AE0-4B8D-95BF-9400807B554E}"/>
              </a:ext>
            </a:extLst>
          </p:cNvPr>
          <p:cNvCxnSpPr>
            <a:cxnSpLocks/>
          </p:cNvCxnSpPr>
          <p:nvPr/>
        </p:nvCxnSpPr>
        <p:spPr>
          <a:xfrm flipH="1" flipV="1">
            <a:off x="10301468" y="4191964"/>
            <a:ext cx="567160" cy="229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407211-5342-AB25-C440-6B89A4A6638A}"/>
              </a:ext>
            </a:extLst>
          </p:cNvPr>
          <p:cNvCxnSpPr>
            <a:cxnSpLocks/>
          </p:cNvCxnSpPr>
          <p:nvPr/>
        </p:nvCxnSpPr>
        <p:spPr>
          <a:xfrm flipH="1" flipV="1">
            <a:off x="10301468" y="4622157"/>
            <a:ext cx="567160" cy="229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1EBD76-8F06-8DB0-210D-EC1A1D01F9B0}"/>
              </a:ext>
            </a:extLst>
          </p:cNvPr>
          <p:cNvCxnSpPr>
            <a:cxnSpLocks/>
          </p:cNvCxnSpPr>
          <p:nvPr/>
        </p:nvCxnSpPr>
        <p:spPr>
          <a:xfrm flipH="1" flipV="1">
            <a:off x="10301468" y="5009882"/>
            <a:ext cx="567160" cy="229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C4D4B3-C0F1-991A-8C30-5DDF5F21801F}"/>
              </a:ext>
            </a:extLst>
          </p:cNvPr>
          <p:cNvCxnSpPr>
            <a:cxnSpLocks/>
          </p:cNvCxnSpPr>
          <p:nvPr/>
        </p:nvCxnSpPr>
        <p:spPr>
          <a:xfrm>
            <a:off x="5521124" y="1666754"/>
            <a:ext cx="117676" cy="534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61183F1-6E63-504A-AE2D-46DB7206F69B}"/>
              </a:ext>
            </a:extLst>
          </p:cNvPr>
          <p:cNvSpPr txBox="1"/>
          <p:nvPr/>
        </p:nvSpPr>
        <p:spPr>
          <a:xfrm>
            <a:off x="8624823" y="5485555"/>
            <a:ext cx="297748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221/1886 ECs have different</a:t>
            </a:r>
          </a:p>
          <a:p>
            <a:r>
              <a:rPr lang="en-US" dirty="0"/>
              <a:t>counts to the </a:t>
            </a:r>
            <a:r>
              <a:rPr lang="en-US" dirty="0" err="1"/>
              <a:t>Sw</a:t>
            </a:r>
            <a:r>
              <a:rPr lang="en-US" dirty="0"/>
              <a:t> genome</a:t>
            </a:r>
          </a:p>
        </p:txBody>
      </p:sp>
    </p:spTree>
    <p:extLst>
      <p:ext uri="{BB962C8B-B14F-4D97-AF65-F5344CB8AC3E}">
        <p14:creationId xmlns:p14="http://schemas.microsoft.com/office/powerpoint/2010/main" val="4105537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21179</TotalTime>
  <Words>49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Castor HSP ‘edge cost’ iteration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Castaneda Mogollon</dc:creator>
  <cp:lastModifiedBy>Daniel Castaneda Mogollon</cp:lastModifiedBy>
  <cp:revision>2</cp:revision>
  <dcterms:created xsi:type="dcterms:W3CDTF">2026-03-20T06:40:54Z</dcterms:created>
  <dcterms:modified xsi:type="dcterms:W3CDTF">2026-04-17T06:57:57Z</dcterms:modified>
</cp:coreProperties>
</file>