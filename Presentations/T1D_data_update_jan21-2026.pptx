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2" r:id="rId2"/>
    <p:sldId id="257" r:id="rId3"/>
    <p:sldId id="258" r:id="rId4"/>
    <p:sldId id="273" r:id="rId5"/>
    <p:sldId id="260" r:id="rId6"/>
    <p:sldId id="259" r:id="rId7"/>
    <p:sldId id="261" r:id="rId8"/>
    <p:sldId id="264" r:id="rId9"/>
    <p:sldId id="268" r:id="rId10"/>
    <p:sldId id="267" r:id="rId11"/>
    <p:sldId id="263" r:id="rId12"/>
    <p:sldId id="262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EE8C8"/>
    <a:srgbClr val="FDE0DE"/>
    <a:srgbClr val="C8EAC1"/>
    <a:srgbClr val="D0D1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17"/>
    <p:restoredTop sz="78356"/>
  </p:normalViewPr>
  <p:slideViewPr>
    <p:cSldViewPr snapToGrid="0">
      <p:cViewPr varScale="1">
        <p:scale>
          <a:sx n="98" d="100"/>
          <a:sy n="98" d="100"/>
        </p:scale>
        <p:origin x="6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44A51E-CDE4-D94E-ACF1-86E6AAFA4473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EDAC808A-B0AD-F94F-BD77-3D9AFB7247A7}">
      <dgm:prSet phldrT="[Text]"/>
      <dgm:spPr/>
      <dgm:t>
        <a:bodyPr/>
        <a:lstStyle/>
        <a:p>
          <a:r>
            <a:rPr lang="en-US" dirty="0" err="1"/>
            <a:t>Inocula</a:t>
          </a:r>
          <a:r>
            <a:rPr lang="en-US" dirty="0"/>
            <a:t> ASV count table</a:t>
          </a:r>
        </a:p>
      </dgm:t>
    </dgm:pt>
    <dgm:pt modelId="{4610F0FB-8D55-A846-94AC-CB02B8E1AB10}" type="parTrans" cxnId="{FAB3C23E-A827-8E4B-90A7-3D6DC7BF2E3F}">
      <dgm:prSet/>
      <dgm:spPr/>
      <dgm:t>
        <a:bodyPr/>
        <a:lstStyle/>
        <a:p>
          <a:endParaRPr lang="en-US"/>
        </a:p>
      </dgm:t>
    </dgm:pt>
    <dgm:pt modelId="{D05CD41E-2B0E-0B45-A4AA-6B24EBDE5746}" type="sibTrans" cxnId="{FAB3C23E-A827-8E4B-90A7-3D6DC7BF2E3F}">
      <dgm:prSet/>
      <dgm:spPr/>
      <dgm:t>
        <a:bodyPr/>
        <a:lstStyle/>
        <a:p>
          <a:endParaRPr lang="en-US"/>
        </a:p>
      </dgm:t>
    </dgm:pt>
    <dgm:pt modelId="{530F8F9F-2118-4445-BDA1-1F9638B66968}">
      <dgm:prSet phldrT="[Text]"/>
      <dgm:spPr/>
      <dgm:t>
        <a:bodyPr/>
        <a:lstStyle/>
        <a:p>
          <a:r>
            <a:rPr lang="en-US" dirty="0"/>
            <a:t>PICRUSt2</a:t>
          </a:r>
        </a:p>
      </dgm:t>
    </dgm:pt>
    <dgm:pt modelId="{8A2F60C9-2228-A046-931B-1525A6A3567F}" type="parTrans" cxnId="{6D548255-1D39-5F4B-8C8F-5AD99231A7E3}">
      <dgm:prSet/>
      <dgm:spPr/>
      <dgm:t>
        <a:bodyPr/>
        <a:lstStyle/>
        <a:p>
          <a:endParaRPr lang="en-US"/>
        </a:p>
      </dgm:t>
    </dgm:pt>
    <dgm:pt modelId="{E4D7C774-D25E-7F49-ADA3-57CF75537676}" type="sibTrans" cxnId="{6D548255-1D39-5F4B-8C8F-5AD99231A7E3}">
      <dgm:prSet/>
      <dgm:spPr/>
      <dgm:t>
        <a:bodyPr/>
        <a:lstStyle/>
        <a:p>
          <a:endParaRPr lang="en-US"/>
        </a:p>
      </dgm:t>
    </dgm:pt>
    <dgm:pt modelId="{F12C9D51-3DED-6C47-AAD9-93F03B414C4D}">
      <dgm:prSet phldrT="[Text]"/>
      <dgm:spPr/>
      <dgm:t>
        <a:bodyPr/>
        <a:lstStyle/>
        <a:p>
          <a:r>
            <a:rPr lang="en-US" dirty="0"/>
            <a:t>Per ASV per sample per pathway contribution</a:t>
          </a:r>
        </a:p>
      </dgm:t>
    </dgm:pt>
    <dgm:pt modelId="{FA67E5D0-E4FC-5541-B979-6917C4AEF69A}" type="parTrans" cxnId="{D475422A-9420-604F-B775-E7ECF2FF2E43}">
      <dgm:prSet/>
      <dgm:spPr/>
      <dgm:t>
        <a:bodyPr/>
        <a:lstStyle/>
        <a:p>
          <a:endParaRPr lang="en-US"/>
        </a:p>
      </dgm:t>
    </dgm:pt>
    <dgm:pt modelId="{2FDD1F62-5400-A847-9AF8-C0080F8B981F}" type="sibTrans" cxnId="{D475422A-9420-604F-B775-E7ECF2FF2E43}">
      <dgm:prSet/>
      <dgm:spPr/>
      <dgm:t>
        <a:bodyPr/>
        <a:lstStyle/>
        <a:p>
          <a:endParaRPr lang="en-US"/>
        </a:p>
      </dgm:t>
    </dgm:pt>
    <dgm:pt modelId="{65347607-96A6-7247-8DF3-3049FB64D048}">
      <dgm:prSet phldrT="[Text]"/>
      <dgm:spPr/>
      <dgm:t>
        <a:bodyPr/>
        <a:lstStyle/>
        <a:p>
          <a:r>
            <a:rPr lang="en-US" dirty="0"/>
            <a:t>ASV-taxon aggregation and mapping</a:t>
          </a:r>
        </a:p>
      </dgm:t>
    </dgm:pt>
    <dgm:pt modelId="{60691AC3-6C70-D346-AA58-D95B0C666BFE}" type="parTrans" cxnId="{C0217366-6A78-2C4A-916F-3AAF0F5A703D}">
      <dgm:prSet/>
      <dgm:spPr/>
      <dgm:t>
        <a:bodyPr/>
        <a:lstStyle/>
        <a:p>
          <a:endParaRPr lang="en-US"/>
        </a:p>
      </dgm:t>
    </dgm:pt>
    <dgm:pt modelId="{AD4DC26D-4E5A-5045-8462-9998245257CA}" type="sibTrans" cxnId="{C0217366-6A78-2C4A-916F-3AAF0F5A703D}">
      <dgm:prSet/>
      <dgm:spPr/>
      <dgm:t>
        <a:bodyPr/>
        <a:lstStyle/>
        <a:p>
          <a:endParaRPr lang="en-US"/>
        </a:p>
      </dgm:t>
    </dgm:pt>
    <dgm:pt modelId="{C0FB5A3C-C7CF-6E4D-AED9-971E1E9E25A6}">
      <dgm:prSet/>
      <dgm:spPr/>
      <dgm:t>
        <a:bodyPr/>
        <a:lstStyle/>
        <a:p>
          <a:r>
            <a:rPr lang="en-US" dirty="0"/>
            <a:t>Identify the bacteria encoding for each pathway</a:t>
          </a:r>
        </a:p>
      </dgm:t>
    </dgm:pt>
    <dgm:pt modelId="{54DE69A8-3CBF-1C4C-B7D0-72783FF6C891}" type="parTrans" cxnId="{D7F0F30C-635A-8047-9E8A-E300B43884A0}">
      <dgm:prSet/>
      <dgm:spPr/>
      <dgm:t>
        <a:bodyPr/>
        <a:lstStyle/>
        <a:p>
          <a:endParaRPr lang="en-US"/>
        </a:p>
      </dgm:t>
    </dgm:pt>
    <dgm:pt modelId="{FB55778F-93DA-6D49-A314-460656F8F4B6}" type="sibTrans" cxnId="{D7F0F30C-635A-8047-9E8A-E300B43884A0}">
      <dgm:prSet/>
      <dgm:spPr/>
      <dgm:t>
        <a:bodyPr/>
        <a:lstStyle/>
        <a:p>
          <a:endParaRPr lang="en-US"/>
        </a:p>
      </dgm:t>
    </dgm:pt>
    <dgm:pt modelId="{DD9A976C-6991-6240-86C6-57B09C44DB0A}">
      <dgm:prSet/>
      <dgm:spPr/>
      <dgm:t>
        <a:bodyPr/>
        <a:lstStyle/>
        <a:p>
          <a:r>
            <a:rPr lang="en-US" dirty="0"/>
            <a:t>Heatmap figure adjustment</a:t>
          </a:r>
        </a:p>
      </dgm:t>
    </dgm:pt>
    <dgm:pt modelId="{BFE970F3-5D00-F047-933C-3D798ACC5937}" type="parTrans" cxnId="{08893B66-5166-7547-9025-A95EAC626B26}">
      <dgm:prSet/>
      <dgm:spPr/>
      <dgm:t>
        <a:bodyPr/>
        <a:lstStyle/>
        <a:p>
          <a:endParaRPr lang="en-US"/>
        </a:p>
      </dgm:t>
    </dgm:pt>
    <dgm:pt modelId="{4737B49E-5A36-6F44-BEDF-BD439D622EFF}" type="sibTrans" cxnId="{08893B66-5166-7547-9025-A95EAC626B26}">
      <dgm:prSet/>
      <dgm:spPr/>
      <dgm:t>
        <a:bodyPr/>
        <a:lstStyle/>
        <a:p>
          <a:endParaRPr lang="en-US"/>
        </a:p>
      </dgm:t>
    </dgm:pt>
    <dgm:pt modelId="{B8252147-FE2C-B948-8656-6ECC2215D004}" type="pres">
      <dgm:prSet presAssocID="{FD44A51E-CDE4-D94E-ACF1-86E6AAFA4473}" presName="Name0" presStyleCnt="0">
        <dgm:presLayoutVars>
          <dgm:dir/>
          <dgm:resizeHandles val="exact"/>
        </dgm:presLayoutVars>
      </dgm:prSet>
      <dgm:spPr/>
    </dgm:pt>
    <dgm:pt modelId="{0859AD35-4AD5-684D-AD38-7AFEA362F7CB}" type="pres">
      <dgm:prSet presAssocID="{EDAC808A-B0AD-F94F-BD77-3D9AFB7247A7}" presName="node" presStyleLbl="node1" presStyleIdx="0" presStyleCnt="6" custLinFactNeighborX="-806" custLinFactNeighborY="-77899">
        <dgm:presLayoutVars>
          <dgm:bulletEnabled val="1"/>
        </dgm:presLayoutVars>
      </dgm:prSet>
      <dgm:spPr/>
    </dgm:pt>
    <dgm:pt modelId="{A492135E-1402-B24F-A5BB-868A2FCBB0A2}" type="pres">
      <dgm:prSet presAssocID="{D05CD41E-2B0E-0B45-A4AA-6B24EBDE5746}" presName="sibTrans" presStyleLbl="sibTrans2D1" presStyleIdx="0" presStyleCnt="5"/>
      <dgm:spPr/>
    </dgm:pt>
    <dgm:pt modelId="{4E2E3006-BB85-124E-94B8-9B3715EA1C2A}" type="pres">
      <dgm:prSet presAssocID="{D05CD41E-2B0E-0B45-A4AA-6B24EBDE5746}" presName="connectorText" presStyleLbl="sibTrans2D1" presStyleIdx="0" presStyleCnt="5"/>
      <dgm:spPr/>
    </dgm:pt>
    <dgm:pt modelId="{41AC16E9-C2CD-2046-AE4C-879F887EE5C9}" type="pres">
      <dgm:prSet presAssocID="{530F8F9F-2118-4445-BDA1-1F9638B66968}" presName="node" presStyleLbl="node1" presStyleIdx="1" presStyleCnt="6" custLinFactNeighborX="6177" custLinFactNeighborY="-77899">
        <dgm:presLayoutVars>
          <dgm:bulletEnabled val="1"/>
        </dgm:presLayoutVars>
      </dgm:prSet>
      <dgm:spPr/>
    </dgm:pt>
    <dgm:pt modelId="{908A2760-9435-AA41-AD51-11E8BCEA2194}" type="pres">
      <dgm:prSet presAssocID="{E4D7C774-D25E-7F49-ADA3-57CF75537676}" presName="sibTrans" presStyleLbl="sibTrans2D1" presStyleIdx="1" presStyleCnt="5"/>
      <dgm:spPr/>
    </dgm:pt>
    <dgm:pt modelId="{5CE2BED2-83B0-F646-AAFB-3D9C985DB2D3}" type="pres">
      <dgm:prSet presAssocID="{E4D7C774-D25E-7F49-ADA3-57CF75537676}" presName="connectorText" presStyleLbl="sibTrans2D1" presStyleIdx="1" presStyleCnt="5"/>
      <dgm:spPr/>
    </dgm:pt>
    <dgm:pt modelId="{53B6E1C5-67EE-7146-AEA9-8B1D7BCF494B}" type="pres">
      <dgm:prSet presAssocID="{F12C9D51-3DED-6C47-AAD9-93F03B414C4D}" presName="node" presStyleLbl="node1" presStyleIdx="2" presStyleCnt="6" custLinFactNeighborX="0" custLinFactNeighborY="-77250">
        <dgm:presLayoutVars>
          <dgm:bulletEnabled val="1"/>
        </dgm:presLayoutVars>
      </dgm:prSet>
      <dgm:spPr/>
    </dgm:pt>
    <dgm:pt modelId="{708C1F10-A307-8849-B0F1-909C467A4E6D}" type="pres">
      <dgm:prSet presAssocID="{2FDD1F62-5400-A847-9AF8-C0080F8B981F}" presName="sibTrans" presStyleLbl="sibTrans2D1" presStyleIdx="2" presStyleCnt="5"/>
      <dgm:spPr/>
    </dgm:pt>
    <dgm:pt modelId="{1FA5BFCC-873A-F843-A4DE-1B46283E528F}" type="pres">
      <dgm:prSet presAssocID="{2FDD1F62-5400-A847-9AF8-C0080F8B981F}" presName="connectorText" presStyleLbl="sibTrans2D1" presStyleIdx="2" presStyleCnt="5"/>
      <dgm:spPr/>
    </dgm:pt>
    <dgm:pt modelId="{3A817CE4-BA6F-E448-AA45-620FF031E9F3}" type="pres">
      <dgm:prSet presAssocID="{65347607-96A6-7247-8DF3-3049FB64D048}" presName="node" presStyleLbl="node1" presStyleIdx="3" presStyleCnt="6" custLinFactNeighborX="9266" custLinFactNeighborY="-75302">
        <dgm:presLayoutVars>
          <dgm:bulletEnabled val="1"/>
        </dgm:presLayoutVars>
      </dgm:prSet>
      <dgm:spPr/>
    </dgm:pt>
    <dgm:pt modelId="{EF12AED0-7B16-C541-AAD0-62547E77A3F7}" type="pres">
      <dgm:prSet presAssocID="{AD4DC26D-4E5A-5045-8462-9998245257CA}" presName="sibTrans" presStyleLbl="sibTrans2D1" presStyleIdx="3" presStyleCnt="5"/>
      <dgm:spPr/>
    </dgm:pt>
    <dgm:pt modelId="{243D970B-5297-E14A-B21C-C455189695C5}" type="pres">
      <dgm:prSet presAssocID="{AD4DC26D-4E5A-5045-8462-9998245257CA}" presName="connectorText" presStyleLbl="sibTrans2D1" presStyleIdx="3" presStyleCnt="5"/>
      <dgm:spPr/>
    </dgm:pt>
    <dgm:pt modelId="{AC3D2A16-DE6B-1243-915E-610BF1E0656E}" type="pres">
      <dgm:prSet presAssocID="{C0FB5A3C-C7CF-6E4D-AED9-971E1E9E25A6}" presName="node" presStyleLbl="node1" presStyleIdx="4" presStyleCnt="6" custLinFactX="-90632" custLinFactNeighborX="-100000" custLinFactNeighborY="72872">
        <dgm:presLayoutVars>
          <dgm:bulletEnabled val="1"/>
        </dgm:presLayoutVars>
      </dgm:prSet>
      <dgm:spPr/>
    </dgm:pt>
    <dgm:pt modelId="{2652EDFD-B0D4-1744-94A0-C3B76E992E97}" type="pres">
      <dgm:prSet presAssocID="{FB55778F-93DA-6D49-A314-460656F8F4B6}" presName="sibTrans" presStyleLbl="sibTrans2D1" presStyleIdx="4" presStyleCnt="5"/>
      <dgm:spPr/>
    </dgm:pt>
    <dgm:pt modelId="{3B941811-B6D5-1C48-9489-037A6CE31205}" type="pres">
      <dgm:prSet presAssocID="{FB55778F-93DA-6D49-A314-460656F8F4B6}" presName="connectorText" presStyleLbl="sibTrans2D1" presStyleIdx="4" presStyleCnt="5"/>
      <dgm:spPr/>
    </dgm:pt>
    <dgm:pt modelId="{8E6432EF-1504-234A-9F91-991890B187BF}" type="pres">
      <dgm:prSet presAssocID="{DD9A976C-6991-6240-86C6-57B09C44DB0A}" presName="node" presStyleLbl="node1" presStyleIdx="5" presStyleCnt="6" custLinFactX="-300000" custLinFactNeighborX="-314049" custLinFactNeighborY="68548">
        <dgm:presLayoutVars>
          <dgm:bulletEnabled val="1"/>
        </dgm:presLayoutVars>
      </dgm:prSet>
      <dgm:spPr/>
    </dgm:pt>
  </dgm:ptLst>
  <dgm:cxnLst>
    <dgm:cxn modelId="{F7A96504-5DD0-CF42-8D21-28F49966F929}" type="presOf" srcId="{E4D7C774-D25E-7F49-ADA3-57CF75537676}" destId="{5CE2BED2-83B0-F646-AAFB-3D9C985DB2D3}" srcOrd="1" destOrd="0" presId="urn:microsoft.com/office/officeart/2005/8/layout/process1"/>
    <dgm:cxn modelId="{D7F0F30C-635A-8047-9E8A-E300B43884A0}" srcId="{FD44A51E-CDE4-D94E-ACF1-86E6AAFA4473}" destId="{C0FB5A3C-C7CF-6E4D-AED9-971E1E9E25A6}" srcOrd="4" destOrd="0" parTransId="{54DE69A8-3CBF-1C4C-B7D0-72783FF6C891}" sibTransId="{FB55778F-93DA-6D49-A314-460656F8F4B6}"/>
    <dgm:cxn modelId="{01EF4919-5A21-8A4B-8451-710887C6AD35}" type="presOf" srcId="{2FDD1F62-5400-A847-9AF8-C0080F8B981F}" destId="{708C1F10-A307-8849-B0F1-909C467A4E6D}" srcOrd="0" destOrd="0" presId="urn:microsoft.com/office/officeart/2005/8/layout/process1"/>
    <dgm:cxn modelId="{D475422A-9420-604F-B775-E7ECF2FF2E43}" srcId="{FD44A51E-CDE4-D94E-ACF1-86E6AAFA4473}" destId="{F12C9D51-3DED-6C47-AAD9-93F03B414C4D}" srcOrd="2" destOrd="0" parTransId="{FA67E5D0-E4FC-5541-B979-6917C4AEF69A}" sibTransId="{2FDD1F62-5400-A847-9AF8-C0080F8B981F}"/>
    <dgm:cxn modelId="{B9601337-7C54-DA44-A42E-C70D02BEA311}" type="presOf" srcId="{D05CD41E-2B0E-0B45-A4AA-6B24EBDE5746}" destId="{A492135E-1402-B24F-A5BB-868A2FCBB0A2}" srcOrd="0" destOrd="0" presId="urn:microsoft.com/office/officeart/2005/8/layout/process1"/>
    <dgm:cxn modelId="{FAB3C23E-A827-8E4B-90A7-3D6DC7BF2E3F}" srcId="{FD44A51E-CDE4-D94E-ACF1-86E6AAFA4473}" destId="{EDAC808A-B0AD-F94F-BD77-3D9AFB7247A7}" srcOrd="0" destOrd="0" parTransId="{4610F0FB-8D55-A846-94AC-CB02B8E1AB10}" sibTransId="{D05CD41E-2B0E-0B45-A4AA-6B24EBDE5746}"/>
    <dgm:cxn modelId="{6D548255-1D39-5F4B-8C8F-5AD99231A7E3}" srcId="{FD44A51E-CDE4-D94E-ACF1-86E6AAFA4473}" destId="{530F8F9F-2118-4445-BDA1-1F9638B66968}" srcOrd="1" destOrd="0" parTransId="{8A2F60C9-2228-A046-931B-1525A6A3567F}" sibTransId="{E4D7C774-D25E-7F49-ADA3-57CF75537676}"/>
    <dgm:cxn modelId="{D76B425C-127F-B34A-8EF9-48EB9D3DF01C}" type="presOf" srcId="{AD4DC26D-4E5A-5045-8462-9998245257CA}" destId="{EF12AED0-7B16-C541-AAD0-62547E77A3F7}" srcOrd="0" destOrd="0" presId="urn:microsoft.com/office/officeart/2005/8/layout/process1"/>
    <dgm:cxn modelId="{2DB0A660-A621-3944-B737-01F7A70506ED}" type="presOf" srcId="{AD4DC26D-4E5A-5045-8462-9998245257CA}" destId="{243D970B-5297-E14A-B21C-C455189695C5}" srcOrd="1" destOrd="0" presId="urn:microsoft.com/office/officeart/2005/8/layout/process1"/>
    <dgm:cxn modelId="{DB996E61-8077-1540-999C-0F6DA5D64BB1}" type="presOf" srcId="{EDAC808A-B0AD-F94F-BD77-3D9AFB7247A7}" destId="{0859AD35-4AD5-684D-AD38-7AFEA362F7CB}" srcOrd="0" destOrd="0" presId="urn:microsoft.com/office/officeart/2005/8/layout/process1"/>
    <dgm:cxn modelId="{08893B66-5166-7547-9025-A95EAC626B26}" srcId="{FD44A51E-CDE4-D94E-ACF1-86E6AAFA4473}" destId="{DD9A976C-6991-6240-86C6-57B09C44DB0A}" srcOrd="5" destOrd="0" parTransId="{BFE970F3-5D00-F047-933C-3D798ACC5937}" sibTransId="{4737B49E-5A36-6F44-BEDF-BD439D622EFF}"/>
    <dgm:cxn modelId="{C0217366-6A78-2C4A-916F-3AAF0F5A703D}" srcId="{FD44A51E-CDE4-D94E-ACF1-86E6AAFA4473}" destId="{65347607-96A6-7247-8DF3-3049FB64D048}" srcOrd="3" destOrd="0" parTransId="{60691AC3-6C70-D346-AA58-D95B0C666BFE}" sibTransId="{AD4DC26D-4E5A-5045-8462-9998245257CA}"/>
    <dgm:cxn modelId="{57A80E82-2E7A-D444-A432-F1637CA38EA8}" type="presOf" srcId="{65347607-96A6-7247-8DF3-3049FB64D048}" destId="{3A817CE4-BA6F-E448-AA45-620FF031E9F3}" srcOrd="0" destOrd="0" presId="urn:microsoft.com/office/officeart/2005/8/layout/process1"/>
    <dgm:cxn modelId="{6E045D88-5FE6-1746-831C-AA47C782E008}" type="presOf" srcId="{FD44A51E-CDE4-D94E-ACF1-86E6AAFA4473}" destId="{B8252147-FE2C-B948-8656-6ECC2215D004}" srcOrd="0" destOrd="0" presId="urn:microsoft.com/office/officeart/2005/8/layout/process1"/>
    <dgm:cxn modelId="{2D15E78D-01DD-2847-AA4E-807F6C76CEE4}" type="presOf" srcId="{DD9A976C-6991-6240-86C6-57B09C44DB0A}" destId="{8E6432EF-1504-234A-9F91-991890B187BF}" srcOrd="0" destOrd="0" presId="urn:microsoft.com/office/officeart/2005/8/layout/process1"/>
    <dgm:cxn modelId="{3E1E05A9-2691-4E4B-90D8-8B3F11A54EF8}" type="presOf" srcId="{E4D7C774-D25E-7F49-ADA3-57CF75537676}" destId="{908A2760-9435-AA41-AD51-11E8BCEA2194}" srcOrd="0" destOrd="0" presId="urn:microsoft.com/office/officeart/2005/8/layout/process1"/>
    <dgm:cxn modelId="{A3E981AF-ADAF-3748-ADD8-9C344335CF5A}" type="presOf" srcId="{F12C9D51-3DED-6C47-AAD9-93F03B414C4D}" destId="{53B6E1C5-67EE-7146-AEA9-8B1D7BCF494B}" srcOrd="0" destOrd="0" presId="urn:microsoft.com/office/officeart/2005/8/layout/process1"/>
    <dgm:cxn modelId="{75C0DDC9-C67A-694B-9D4B-0C02DC8FAA96}" type="presOf" srcId="{530F8F9F-2118-4445-BDA1-1F9638B66968}" destId="{41AC16E9-C2CD-2046-AE4C-879F887EE5C9}" srcOrd="0" destOrd="0" presId="urn:microsoft.com/office/officeart/2005/8/layout/process1"/>
    <dgm:cxn modelId="{CA322AD2-3F0F-2348-9019-364CDE750F2C}" type="presOf" srcId="{FB55778F-93DA-6D49-A314-460656F8F4B6}" destId="{2652EDFD-B0D4-1744-94A0-C3B76E992E97}" srcOrd="0" destOrd="0" presId="urn:microsoft.com/office/officeart/2005/8/layout/process1"/>
    <dgm:cxn modelId="{25B09BD2-5FE3-604E-935B-DEDE6EDFEB6A}" type="presOf" srcId="{C0FB5A3C-C7CF-6E4D-AED9-971E1E9E25A6}" destId="{AC3D2A16-DE6B-1243-915E-610BF1E0656E}" srcOrd="0" destOrd="0" presId="urn:microsoft.com/office/officeart/2005/8/layout/process1"/>
    <dgm:cxn modelId="{601899E8-75DC-6B4A-90E3-7D1C3B2E3CE7}" type="presOf" srcId="{2FDD1F62-5400-A847-9AF8-C0080F8B981F}" destId="{1FA5BFCC-873A-F843-A4DE-1B46283E528F}" srcOrd="1" destOrd="0" presId="urn:microsoft.com/office/officeart/2005/8/layout/process1"/>
    <dgm:cxn modelId="{7F8CFAEF-0D22-4344-A5C5-CB5B597A2599}" type="presOf" srcId="{D05CD41E-2B0E-0B45-A4AA-6B24EBDE5746}" destId="{4E2E3006-BB85-124E-94B8-9B3715EA1C2A}" srcOrd="1" destOrd="0" presId="urn:microsoft.com/office/officeart/2005/8/layout/process1"/>
    <dgm:cxn modelId="{830FADF9-1132-3847-9DD9-07A99C419261}" type="presOf" srcId="{FB55778F-93DA-6D49-A314-460656F8F4B6}" destId="{3B941811-B6D5-1C48-9489-037A6CE31205}" srcOrd="1" destOrd="0" presId="urn:microsoft.com/office/officeart/2005/8/layout/process1"/>
    <dgm:cxn modelId="{A080CEFC-2CBB-D841-B684-969F31185DCC}" type="presParOf" srcId="{B8252147-FE2C-B948-8656-6ECC2215D004}" destId="{0859AD35-4AD5-684D-AD38-7AFEA362F7CB}" srcOrd="0" destOrd="0" presId="urn:microsoft.com/office/officeart/2005/8/layout/process1"/>
    <dgm:cxn modelId="{D6601C59-70A9-E647-B3C8-5DA3BE8E8715}" type="presParOf" srcId="{B8252147-FE2C-B948-8656-6ECC2215D004}" destId="{A492135E-1402-B24F-A5BB-868A2FCBB0A2}" srcOrd="1" destOrd="0" presId="urn:microsoft.com/office/officeart/2005/8/layout/process1"/>
    <dgm:cxn modelId="{00821501-4859-6A43-BE82-D9AF9C191FFA}" type="presParOf" srcId="{A492135E-1402-B24F-A5BB-868A2FCBB0A2}" destId="{4E2E3006-BB85-124E-94B8-9B3715EA1C2A}" srcOrd="0" destOrd="0" presId="urn:microsoft.com/office/officeart/2005/8/layout/process1"/>
    <dgm:cxn modelId="{0FA1FB16-B996-F645-8B1D-0402A7DAF072}" type="presParOf" srcId="{B8252147-FE2C-B948-8656-6ECC2215D004}" destId="{41AC16E9-C2CD-2046-AE4C-879F887EE5C9}" srcOrd="2" destOrd="0" presId="urn:microsoft.com/office/officeart/2005/8/layout/process1"/>
    <dgm:cxn modelId="{F7A8B405-DE8C-B649-8EBE-EF2F9558ED0D}" type="presParOf" srcId="{B8252147-FE2C-B948-8656-6ECC2215D004}" destId="{908A2760-9435-AA41-AD51-11E8BCEA2194}" srcOrd="3" destOrd="0" presId="urn:microsoft.com/office/officeart/2005/8/layout/process1"/>
    <dgm:cxn modelId="{1A68F6A3-909D-6C4E-ACE9-34E4F6521C3E}" type="presParOf" srcId="{908A2760-9435-AA41-AD51-11E8BCEA2194}" destId="{5CE2BED2-83B0-F646-AAFB-3D9C985DB2D3}" srcOrd="0" destOrd="0" presId="urn:microsoft.com/office/officeart/2005/8/layout/process1"/>
    <dgm:cxn modelId="{802ACA70-3F80-4F40-AABC-46CDB13AE588}" type="presParOf" srcId="{B8252147-FE2C-B948-8656-6ECC2215D004}" destId="{53B6E1C5-67EE-7146-AEA9-8B1D7BCF494B}" srcOrd="4" destOrd="0" presId="urn:microsoft.com/office/officeart/2005/8/layout/process1"/>
    <dgm:cxn modelId="{186DE10D-037F-5146-B2D6-CCD3E1570172}" type="presParOf" srcId="{B8252147-FE2C-B948-8656-6ECC2215D004}" destId="{708C1F10-A307-8849-B0F1-909C467A4E6D}" srcOrd="5" destOrd="0" presId="urn:microsoft.com/office/officeart/2005/8/layout/process1"/>
    <dgm:cxn modelId="{CDE8E9E5-872D-FD41-B2BD-F72D3F7D0D73}" type="presParOf" srcId="{708C1F10-A307-8849-B0F1-909C467A4E6D}" destId="{1FA5BFCC-873A-F843-A4DE-1B46283E528F}" srcOrd="0" destOrd="0" presId="urn:microsoft.com/office/officeart/2005/8/layout/process1"/>
    <dgm:cxn modelId="{39CD1289-27D5-324F-B0D3-E2D774194909}" type="presParOf" srcId="{B8252147-FE2C-B948-8656-6ECC2215D004}" destId="{3A817CE4-BA6F-E448-AA45-620FF031E9F3}" srcOrd="6" destOrd="0" presId="urn:microsoft.com/office/officeart/2005/8/layout/process1"/>
    <dgm:cxn modelId="{6A76C98B-4ED7-574E-9D1B-1D6F7A69CC1F}" type="presParOf" srcId="{B8252147-FE2C-B948-8656-6ECC2215D004}" destId="{EF12AED0-7B16-C541-AAD0-62547E77A3F7}" srcOrd="7" destOrd="0" presId="urn:microsoft.com/office/officeart/2005/8/layout/process1"/>
    <dgm:cxn modelId="{71476921-A1AD-A14D-AE35-4D6D2519F7C6}" type="presParOf" srcId="{EF12AED0-7B16-C541-AAD0-62547E77A3F7}" destId="{243D970B-5297-E14A-B21C-C455189695C5}" srcOrd="0" destOrd="0" presId="urn:microsoft.com/office/officeart/2005/8/layout/process1"/>
    <dgm:cxn modelId="{971CE729-4489-7C4C-92B3-7FD1805D9ABA}" type="presParOf" srcId="{B8252147-FE2C-B948-8656-6ECC2215D004}" destId="{AC3D2A16-DE6B-1243-915E-610BF1E0656E}" srcOrd="8" destOrd="0" presId="urn:microsoft.com/office/officeart/2005/8/layout/process1"/>
    <dgm:cxn modelId="{8630F6E0-EE66-4D4F-BA80-A3ADF07B17AD}" type="presParOf" srcId="{B8252147-FE2C-B948-8656-6ECC2215D004}" destId="{2652EDFD-B0D4-1744-94A0-C3B76E992E97}" srcOrd="9" destOrd="0" presId="urn:microsoft.com/office/officeart/2005/8/layout/process1"/>
    <dgm:cxn modelId="{948FB732-5262-B942-9152-0FC845484D49}" type="presParOf" srcId="{2652EDFD-B0D4-1744-94A0-C3B76E992E97}" destId="{3B941811-B6D5-1C48-9489-037A6CE31205}" srcOrd="0" destOrd="0" presId="urn:microsoft.com/office/officeart/2005/8/layout/process1"/>
    <dgm:cxn modelId="{372ABD0C-ACFE-0E4F-99AD-AFDD569C173B}" type="presParOf" srcId="{B8252147-FE2C-B948-8656-6ECC2215D004}" destId="{8E6432EF-1504-234A-9F91-991890B187BF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59AD35-4AD5-684D-AD38-7AFEA362F7CB}">
      <dsp:nvSpPr>
        <dsp:cNvPr id="0" name=""/>
        <dsp:cNvSpPr/>
      </dsp:nvSpPr>
      <dsp:spPr>
        <a:xfrm>
          <a:off x="0" y="469545"/>
          <a:ext cx="1314449" cy="13339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Inocula</a:t>
          </a:r>
          <a:r>
            <a:rPr lang="en-US" sz="1600" kern="1200" dirty="0"/>
            <a:t> ASV count table</a:t>
          </a:r>
        </a:p>
      </dsp:txBody>
      <dsp:txXfrm>
        <a:off x="38499" y="508044"/>
        <a:ext cx="1237451" cy="1256963"/>
      </dsp:txXfrm>
    </dsp:sp>
    <dsp:sp modelId="{A492135E-1402-B24F-A5BB-868A2FCBB0A2}">
      <dsp:nvSpPr>
        <dsp:cNvPr id="0" name=""/>
        <dsp:cNvSpPr/>
      </dsp:nvSpPr>
      <dsp:spPr>
        <a:xfrm>
          <a:off x="1454014" y="973534"/>
          <a:ext cx="295876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454014" y="1038731"/>
        <a:ext cx="207113" cy="195589"/>
      </dsp:txXfrm>
    </dsp:sp>
    <dsp:sp modelId="{41AC16E9-C2CD-2046-AE4C-879F887EE5C9}">
      <dsp:nvSpPr>
        <dsp:cNvPr id="0" name=""/>
        <dsp:cNvSpPr/>
      </dsp:nvSpPr>
      <dsp:spPr>
        <a:xfrm>
          <a:off x="1872707" y="469545"/>
          <a:ext cx="1314449" cy="13339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PICRUSt2</a:t>
          </a:r>
        </a:p>
      </dsp:txBody>
      <dsp:txXfrm>
        <a:off x="1911206" y="508044"/>
        <a:ext cx="1237451" cy="1256963"/>
      </dsp:txXfrm>
    </dsp:sp>
    <dsp:sp modelId="{908A2760-9435-AA41-AD51-11E8BCEA2194}">
      <dsp:nvSpPr>
        <dsp:cNvPr id="0" name=""/>
        <dsp:cNvSpPr/>
      </dsp:nvSpPr>
      <dsp:spPr>
        <a:xfrm rot="16463">
          <a:off x="3310481" y="977898"/>
          <a:ext cx="26145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310481" y="1042907"/>
        <a:ext cx="183017" cy="195589"/>
      </dsp:txXfrm>
    </dsp:sp>
    <dsp:sp modelId="{53B6E1C5-67EE-7146-AEA9-8B1D7BCF494B}">
      <dsp:nvSpPr>
        <dsp:cNvPr id="0" name=""/>
        <dsp:cNvSpPr/>
      </dsp:nvSpPr>
      <dsp:spPr>
        <a:xfrm>
          <a:off x="3680460" y="478203"/>
          <a:ext cx="1314449" cy="13339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Per ASV per sample per pathway contribution</a:t>
          </a:r>
        </a:p>
      </dsp:txBody>
      <dsp:txXfrm>
        <a:off x="3718959" y="516702"/>
        <a:ext cx="1237451" cy="1256963"/>
      </dsp:txXfrm>
    </dsp:sp>
    <dsp:sp modelId="{708C1F10-A307-8849-B0F1-909C467A4E6D}">
      <dsp:nvSpPr>
        <dsp:cNvPr id="0" name=""/>
        <dsp:cNvSpPr/>
      </dsp:nvSpPr>
      <dsp:spPr>
        <a:xfrm rot="47289">
          <a:off x="5138520" y="995303"/>
          <a:ext cx="30451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138524" y="1059872"/>
        <a:ext cx="213159" cy="195589"/>
      </dsp:txXfrm>
    </dsp:sp>
    <dsp:sp modelId="{3A817CE4-BA6F-E448-AA45-620FF031E9F3}">
      <dsp:nvSpPr>
        <dsp:cNvPr id="0" name=""/>
        <dsp:cNvSpPr/>
      </dsp:nvSpPr>
      <dsp:spPr>
        <a:xfrm>
          <a:off x="5569408" y="504188"/>
          <a:ext cx="1314449" cy="13339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ASV-taxon aggregation and mapping</a:t>
          </a:r>
        </a:p>
      </dsp:txBody>
      <dsp:txXfrm>
        <a:off x="5607907" y="542687"/>
        <a:ext cx="1237451" cy="1256963"/>
      </dsp:txXfrm>
    </dsp:sp>
    <dsp:sp modelId="{EF12AED0-7B16-C541-AAD0-62547E77A3F7}">
      <dsp:nvSpPr>
        <dsp:cNvPr id="0" name=""/>
        <dsp:cNvSpPr/>
      </dsp:nvSpPr>
      <dsp:spPr>
        <a:xfrm rot="5270629">
          <a:off x="6093790" y="2006108"/>
          <a:ext cx="340831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140848" y="2022442"/>
        <a:ext cx="243036" cy="195589"/>
      </dsp:txXfrm>
    </dsp:sp>
    <dsp:sp modelId="{AC3D2A16-DE6B-1243-915E-610BF1E0656E}">
      <dsp:nvSpPr>
        <dsp:cNvPr id="0" name=""/>
        <dsp:cNvSpPr/>
      </dsp:nvSpPr>
      <dsp:spPr>
        <a:xfrm>
          <a:off x="5643827" y="2480772"/>
          <a:ext cx="1314449" cy="13339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Identify the bacteria encoding for each pathway</a:t>
          </a:r>
        </a:p>
      </dsp:txBody>
      <dsp:txXfrm>
        <a:off x="5682326" y="2519271"/>
        <a:ext cx="1237451" cy="1256963"/>
      </dsp:txXfrm>
    </dsp:sp>
    <dsp:sp modelId="{2652EDFD-B0D4-1744-94A0-C3B76E992E97}">
      <dsp:nvSpPr>
        <dsp:cNvPr id="0" name=""/>
        <dsp:cNvSpPr/>
      </dsp:nvSpPr>
      <dsp:spPr>
        <a:xfrm rot="10897307">
          <a:off x="5079979" y="2955614"/>
          <a:ext cx="383229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5177754" y="3022195"/>
        <a:ext cx="285434" cy="195589"/>
      </dsp:txXfrm>
    </dsp:sp>
    <dsp:sp modelId="{8E6432EF-1504-234A-9F91-991890B187BF}">
      <dsp:nvSpPr>
        <dsp:cNvPr id="0" name=""/>
        <dsp:cNvSpPr/>
      </dsp:nvSpPr>
      <dsp:spPr>
        <a:xfrm>
          <a:off x="3606593" y="2423092"/>
          <a:ext cx="1314449" cy="13339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Heatmap figure adjustment</a:t>
          </a:r>
        </a:p>
      </dsp:txBody>
      <dsp:txXfrm>
        <a:off x="3645092" y="2461591"/>
        <a:ext cx="1237451" cy="12569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072A9-C819-BA44-BD6C-F8EA3521939E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117FB-4868-9D40-85D4-9ACD98730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39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with </a:t>
            </a:r>
            <a:r>
              <a:rPr lang="en-US" dirty="0" err="1"/>
              <a:t>MetaCyc</a:t>
            </a:r>
            <a:r>
              <a:rPr lang="en-US" dirty="0"/>
              <a:t> if a bacteria encodes for a pathway that seems suspicious.</a:t>
            </a:r>
          </a:p>
          <a:p>
            <a:r>
              <a:rPr lang="en-US" dirty="0"/>
              <a:t>PICRUSt2 </a:t>
            </a:r>
            <a:r>
              <a:rPr lang="en-US" dirty="0" err="1"/>
              <a:t>inocula</a:t>
            </a:r>
            <a:r>
              <a:rPr lang="en-US" dirty="0"/>
              <a:t> as a yes or no.</a:t>
            </a:r>
          </a:p>
          <a:p>
            <a:endParaRPr lang="en-US" dirty="0"/>
          </a:p>
          <a:p>
            <a:r>
              <a:rPr lang="en-US" dirty="0"/>
              <a:t>1. Use Laura's Excel file to finish the category naming.</a:t>
            </a:r>
          </a:p>
          <a:p>
            <a:r>
              <a:rPr lang="en-US" dirty="0"/>
              <a:t>2. PICRUSt2 </a:t>
            </a:r>
            <a:r>
              <a:rPr lang="en-US" dirty="0" err="1"/>
              <a:t>inocula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3. Tree generation at the end, share with Laura.</a:t>
            </a:r>
          </a:p>
          <a:p>
            <a:r>
              <a:rPr lang="en-US" dirty="0"/>
              <a:t>4. </a:t>
            </a:r>
            <a:r>
              <a:rPr lang="en-US" dirty="0" err="1"/>
              <a:t>Pangenomics</a:t>
            </a:r>
            <a:r>
              <a:rPr lang="en-US" dirty="0"/>
              <a:t> of strains.</a:t>
            </a:r>
          </a:p>
          <a:p>
            <a:r>
              <a:rPr lang="en-US" dirty="0"/>
              <a:t>5. Compare the </a:t>
            </a:r>
            <a:r>
              <a:rPr lang="en-US" dirty="0" err="1"/>
              <a:t>PCoA</a:t>
            </a:r>
            <a:r>
              <a:rPr lang="en-US" dirty="0"/>
              <a:t> vs PCA.</a:t>
            </a:r>
          </a:p>
          <a:p>
            <a:endParaRPr lang="en-US" dirty="0"/>
          </a:p>
          <a:p>
            <a:r>
              <a:rPr lang="en-US" dirty="0"/>
              <a:t>Maybe generate a PCA for shared pathways.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117FB-4868-9D40-85D4-9ACD987303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47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heatmaps answer a functional association and correlation and easy to interpret, but does not tell us if there is a conditional dependence between taxa, or if there is an ecological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117FB-4868-9D40-85D4-9ACD987303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50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tells us the same </a:t>
            </a:r>
            <a:r>
              <a:rPr lang="en-US" dirty="0" err="1"/>
              <a:t>inofrmation</a:t>
            </a:r>
            <a:r>
              <a:rPr lang="en-US" dirty="0"/>
              <a:t> from the taxa-taxa correlation and taxa-pathway.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117FB-4868-9D40-85D4-9ACD987303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962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Bacteroides </a:t>
            </a:r>
            <a:r>
              <a:rPr lang="en-US" dirty="0" err="1"/>
              <a:t>uniformis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117FB-4868-9D40-85D4-9ACD987303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627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9,10 figure out which way of getting at is driving from the PICRUSt2 file. Extract every taxon that is attributing to a pathway.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117FB-4868-9D40-85D4-9ACD987303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27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98DB-577D-DC5E-63B2-F9B1ED172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617B10-3E2B-2786-426B-775ADCF66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6F485-41D4-5496-0723-2BD8375D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7CEA1-C477-5EF4-4A46-81C452D3B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7F5FA-851E-EB24-D18A-68EC040F1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78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C2D7A-96A3-CFFF-D77C-5DF1694D7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67FB0-04D1-5275-B82A-1595B95B8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D3FC5-C3DE-78CB-956D-924271B3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7A5B8-34D6-FF29-D660-978B29EE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471E8-6C99-7D09-6C9C-FF244443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66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06C66-25F6-F1C5-BB47-255E83663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85FED-DFFA-8968-31F7-7F560CFBD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56B36-D8BA-A370-852A-70B257292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1B498-0535-A795-F449-CCE66DE86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33751-F949-A4F0-9F56-B99D23841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0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CB97-F401-59E3-2D9D-803402E97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544C8-0B8E-1FCB-71F5-FD0D2AD8F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E3358-FEA8-E4B5-8900-BB6FD2EFF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F4382-3B5B-6BD2-A9FB-1CB2A38E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1F589-DA81-9DAA-1359-575B5358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98D9C-DB0A-D3AA-F8A8-00D39D894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3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AAF6A-FBDA-E42A-8296-52DFD3CC5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5F025-E3FA-AEF1-78D3-676732C3F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6CE79-0BC4-0F24-28FB-A37EEF4FA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51C972-6F97-52F7-0FA2-D576DEAF3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B30AB2-52E9-D144-A4EE-72FAEB84F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C34903-39DF-7AA7-AC2E-C1D03BD8C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56DF9C-13D1-EC41-704E-9445DAB8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98EE98-9639-C288-F1C7-3ED00E5C2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6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D4240-B27F-40ED-A090-3418D1B84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FEC7AF-945F-7B0D-5F0C-AC61A22CA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B1CE2-C08F-D7DD-0015-0BEBAA6FF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7AE2E-8B46-F0ED-7F23-A95C5C91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68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33656-DE21-998D-13A0-C8DEB98C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A13767-77FA-11E4-8CE5-46A509D2F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07142-25CD-FCD5-5867-4A65C653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01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2962-C6F4-C10B-5C04-DC45051AC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8B143-1BBC-7E57-4761-E3E074BB9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35A38-5068-8CE9-454F-70991C618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50E16-C8B3-7D53-9B87-D0B0D537F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B388F-4696-7451-BEBB-D6D4B1793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35FF9-3F7B-17A8-EC46-E6433A9B0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7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2F7B3-FC92-08DF-40D1-EDD6C032C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C88814-37F8-2259-4FB0-1211FF0A2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D5CA2-C3B2-3D38-B9ED-7335162FB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A6027-8DBC-DFC6-F594-3B39801BF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BAC1D-4876-2FD3-CBBF-7D1035AE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CB9B3-3E0E-8C1D-033C-517F93C5F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25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805-77A9-1EBB-582E-3168CD551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84D32-2F7F-5CCE-1492-803DB2B59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11C47-B142-E233-3263-6F73E2541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89615-8CA0-D1DA-D7F6-D89FD4661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1FC6D-2B8C-BBB2-6B40-5A872737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7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71EC94-9676-2F02-8797-A8B151839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3DB1E-7DE0-4553-9FC4-1C89C6BD5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E499B-4708-6099-4B18-E03A358EB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B597D-42F1-4E2E-7909-A1441EA4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1D24E-CB1A-4FA7-93AE-B1374ED91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0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2E789D-31BB-AB96-6A50-B96BD790C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0EE5B-8CCD-8E98-BF90-AD3F22E2F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89891-06BF-E21F-B9D9-3AB309FCF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9FD2B-F61B-354D-85A1-BAB4853C790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1EF8F-FF18-7EC2-C39B-AB9669A70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1AA3F-5A0D-890E-11B5-EF66D2F69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olecular model">
            <a:extLst>
              <a:ext uri="{FF2B5EF4-FFF2-40B4-BE49-F238E27FC236}">
                <a16:creationId xmlns:a16="http://schemas.microsoft.com/office/drawing/2014/main" id="{471731FC-EBBE-91DD-AB4E-CA94EE0454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7221" b="85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D25666-3123-79D6-5B07-297D91814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T1D Data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C4F5F-60A6-F591-9338-E7418D89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Daniel Castaneda Mogollon, PhD</a:t>
            </a:r>
          </a:p>
          <a:p>
            <a:r>
              <a:rPr lang="en-US" dirty="0" err="1">
                <a:solidFill>
                  <a:srgbClr val="FFFFFF"/>
                </a:solidFill>
              </a:rPr>
              <a:t>Sycuro</a:t>
            </a:r>
            <a:r>
              <a:rPr lang="en-US" dirty="0">
                <a:solidFill>
                  <a:srgbClr val="FFFFFF"/>
                </a:solidFill>
              </a:rPr>
              <a:t> Lab</a:t>
            </a:r>
          </a:p>
          <a:p>
            <a:r>
              <a:rPr lang="en-US" dirty="0">
                <a:solidFill>
                  <a:srgbClr val="FFFFFF"/>
                </a:solidFill>
              </a:rPr>
              <a:t>01/21/2026</a:t>
            </a:r>
          </a:p>
        </p:txBody>
      </p:sp>
    </p:spTree>
    <p:extLst>
      <p:ext uri="{BB962C8B-B14F-4D97-AF65-F5344CB8AC3E}">
        <p14:creationId xmlns:p14="http://schemas.microsoft.com/office/powerpoint/2010/main" val="577318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70F37-5869-D3B9-2BB7-9FA9BE9F4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items from our previous 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2B115-7CBD-7C2C-69FF-39C7C2F8E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Modify the heatmap figures to indicate which pathways are not encoded by bacteria</a:t>
            </a:r>
          </a:p>
          <a:p>
            <a:r>
              <a:rPr lang="en-US" dirty="0"/>
              <a:t>Correlation figures of taxa-taxa and pathway-pathway</a:t>
            </a:r>
          </a:p>
          <a:p>
            <a:r>
              <a:rPr lang="en-US" dirty="0"/>
              <a:t>Improve pathway annotation and network visualization</a:t>
            </a:r>
          </a:p>
          <a:p>
            <a:r>
              <a:rPr lang="en-US" dirty="0"/>
              <a:t>Determine the core, accessory, and strain-specific gene clusters across different strains of the same species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743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D4FA4-51C6-97B6-7423-B87509FAA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NS1 (taxa-taxa self-correlation)</a:t>
            </a:r>
          </a:p>
        </p:txBody>
      </p:sp>
      <p:pic>
        <p:nvPicPr>
          <p:cNvPr id="5" name="Content Placeholder 4" descr="A screenshot of a data visualization&#10;&#10;AI-generated content may be incorrect.">
            <a:extLst>
              <a:ext uri="{FF2B5EF4-FFF2-40B4-BE49-F238E27FC236}">
                <a16:creationId xmlns:a16="http://schemas.microsoft.com/office/drawing/2014/main" id="{0722E019-5328-AD6E-C3F9-9A3590D9B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0161" b="16294"/>
          <a:stretch>
            <a:fillRect/>
          </a:stretch>
        </p:blipFill>
        <p:spPr>
          <a:xfrm>
            <a:off x="-1" y="1133933"/>
            <a:ext cx="5647661" cy="5075307"/>
          </a:xfr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2064BCD2-72D0-3CCD-102D-84C2055D35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817"/>
          <a:stretch>
            <a:fillRect/>
          </a:stretch>
        </p:blipFill>
        <p:spPr>
          <a:xfrm>
            <a:off x="5935860" y="1325563"/>
            <a:ext cx="6256140" cy="46751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0D2EDC-FEAF-0E14-80AF-F26A0C5B5C8F}"/>
              </a:ext>
            </a:extLst>
          </p:cNvPr>
          <p:cNvSpPr txBox="1"/>
          <p:nvPr/>
        </p:nvSpPr>
        <p:spPr>
          <a:xfrm>
            <a:off x="1787527" y="6209240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NS1 w5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C97B6-7250-F0E6-C41F-D10802BB7A97}"/>
              </a:ext>
            </a:extLst>
          </p:cNvPr>
          <p:cNvSpPr txBox="1"/>
          <p:nvPr/>
        </p:nvSpPr>
        <p:spPr>
          <a:xfrm>
            <a:off x="7712278" y="6024574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NS1 w9w10</a:t>
            </a:r>
          </a:p>
        </p:txBody>
      </p:sp>
    </p:spTree>
    <p:extLst>
      <p:ext uri="{BB962C8B-B14F-4D97-AF65-F5344CB8AC3E}">
        <p14:creationId xmlns:p14="http://schemas.microsoft.com/office/powerpoint/2010/main" val="342114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D82A7-0CE9-8EE8-8B98-935C60606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 interpretability and visualization for taxa-taxa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CCBB0-EDB1-04AB-2706-8C2CB8715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 err="1"/>
              <a:t>SpiecEasi</a:t>
            </a:r>
            <a:r>
              <a:rPr lang="en-US" dirty="0"/>
              <a:t> (Sparse </a:t>
            </a:r>
            <a:r>
              <a:rPr lang="en-US" dirty="0" err="1"/>
              <a:t>InversE</a:t>
            </a:r>
            <a:r>
              <a:rPr lang="en-US" dirty="0"/>
              <a:t> Covariance estimation for Ecological Association and Statistical Inference)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Which taxa are </a:t>
            </a:r>
            <a:r>
              <a:rPr lang="en-US" i="1" dirty="0"/>
              <a:t>conditionally dependent </a:t>
            </a:r>
            <a:r>
              <a:rPr lang="en-US" dirty="0"/>
              <a:t>on each other?</a:t>
            </a:r>
          </a:p>
          <a:p>
            <a:pPr marL="0" indent="0">
              <a:buNone/>
            </a:pPr>
            <a:r>
              <a:rPr lang="en-US" dirty="0"/>
              <a:t>- Explicitly handles compositional data</a:t>
            </a:r>
          </a:p>
          <a:p>
            <a:pPr marL="0" indent="0">
              <a:buNone/>
            </a:pPr>
            <a:r>
              <a:rPr lang="en-US" dirty="0"/>
              <a:t>- Ecological interaction</a:t>
            </a:r>
          </a:p>
        </p:txBody>
      </p:sp>
      <p:pic>
        <p:nvPicPr>
          <p:cNvPr id="4" name="Picture 3" descr="SPIEC-EASI cross-domain correlation network analysis of the skin... |  Download Scientific Diagram">
            <a:extLst>
              <a:ext uri="{FF2B5EF4-FFF2-40B4-BE49-F238E27FC236}">
                <a16:creationId xmlns:a16="http://schemas.microsoft.com/office/drawing/2014/main" id="{69F739FC-9796-78A6-2551-937195C444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364"/>
          <a:stretch>
            <a:fillRect/>
          </a:stretch>
        </p:blipFill>
        <p:spPr>
          <a:xfrm>
            <a:off x="8313379" y="3736975"/>
            <a:ext cx="2679085" cy="2755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B47A34-3E70-E94D-30D9-F4E4146120C1}"/>
              </a:ext>
            </a:extLst>
          </p:cNvPr>
          <p:cNvSpPr txBox="1"/>
          <p:nvPr/>
        </p:nvSpPr>
        <p:spPr>
          <a:xfrm>
            <a:off x="6096000" y="642711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b="0" i="0" dirty="0">
                <a:solidFill>
                  <a:srgbClr val="212121"/>
                </a:solidFill>
                <a:effectLst/>
                <a:latin typeface="system-ui"/>
              </a:rPr>
              <a:t>Birt HWG, Dennis PG. Inference and Analysis of SPIEC-EASI Microbiome Networks. Methods Mol Biol. 2021;2232:155-171. </a:t>
            </a:r>
            <a:r>
              <a:rPr lang="en-CA" sz="1100" b="0" i="0" dirty="0" err="1">
                <a:solidFill>
                  <a:srgbClr val="212121"/>
                </a:solidFill>
                <a:effectLst/>
                <a:latin typeface="system-ui"/>
              </a:rPr>
              <a:t>doi</a:t>
            </a:r>
            <a:r>
              <a:rPr lang="en-CA" sz="1100" b="0" i="0" dirty="0">
                <a:solidFill>
                  <a:srgbClr val="212121"/>
                </a:solidFill>
                <a:effectLst/>
                <a:latin typeface="system-ui"/>
              </a:rPr>
              <a:t>: 10.1007/978-1-0716-1040-4_14. PMID: 33161547.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73539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D4CC6-B11F-8AAD-1D59-DD8F4A74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41" y="-34686"/>
            <a:ext cx="10515600" cy="1325563"/>
          </a:xfrm>
        </p:spPr>
        <p:txBody>
          <a:bodyPr/>
          <a:lstStyle/>
          <a:p>
            <a:r>
              <a:rPr lang="en-US" dirty="0"/>
              <a:t>NS1 (pathway-pathway self-correlation)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69928540-6E84-ACF4-8FA9-323E95641B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0339" b="9445"/>
          <a:stretch>
            <a:fillRect/>
          </a:stretch>
        </p:blipFill>
        <p:spPr>
          <a:xfrm>
            <a:off x="24160" y="1400905"/>
            <a:ext cx="5472628" cy="5332318"/>
          </a:xfrm>
        </p:spPr>
      </p:pic>
      <p:pic>
        <p:nvPicPr>
          <p:cNvPr id="7" name="Picture 6" descr="A close-up of a graph&#10;&#10;AI-generated content may be incorrect.">
            <a:extLst>
              <a:ext uri="{FF2B5EF4-FFF2-40B4-BE49-F238E27FC236}">
                <a16:creationId xmlns:a16="http://schemas.microsoft.com/office/drawing/2014/main" id="{638B2D6D-A1F9-68E8-04BA-1B865D5D21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566"/>
          <a:stretch>
            <a:fillRect/>
          </a:stretch>
        </p:blipFill>
        <p:spPr>
          <a:xfrm>
            <a:off x="5546170" y="1498252"/>
            <a:ext cx="6592729" cy="46582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8B74F6-318E-E3E8-AC4F-89E0FDD46FDB}"/>
              </a:ext>
            </a:extLst>
          </p:cNvPr>
          <p:cNvSpPr txBox="1"/>
          <p:nvPr/>
        </p:nvSpPr>
        <p:spPr>
          <a:xfrm>
            <a:off x="1612490" y="6371303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NS1w5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4542E-CF92-6E64-30E8-068AD9E6D864}"/>
              </a:ext>
            </a:extLst>
          </p:cNvPr>
          <p:cNvSpPr txBox="1"/>
          <p:nvPr/>
        </p:nvSpPr>
        <p:spPr>
          <a:xfrm>
            <a:off x="8126361" y="6363891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NS1w9w10</a:t>
            </a:r>
          </a:p>
        </p:txBody>
      </p:sp>
    </p:spTree>
    <p:extLst>
      <p:ext uri="{BB962C8B-B14F-4D97-AF65-F5344CB8AC3E}">
        <p14:creationId xmlns:p14="http://schemas.microsoft.com/office/powerpoint/2010/main" val="1849515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EA42F-B362-20E9-8977-3B224ECA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754"/>
            <a:ext cx="10515600" cy="1325563"/>
          </a:xfrm>
        </p:spPr>
        <p:txBody>
          <a:bodyPr/>
          <a:lstStyle/>
          <a:p>
            <a:r>
              <a:rPr lang="en-US" dirty="0"/>
              <a:t>S2 (taxa-taxa self-correlation)</a:t>
            </a:r>
          </a:p>
        </p:txBody>
      </p:sp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D041E478-87EB-9EF5-2872-6CD626EE6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826"/>
          <a:stretch>
            <a:fillRect/>
          </a:stretch>
        </p:blipFill>
        <p:spPr>
          <a:xfrm>
            <a:off x="5614217" y="1311809"/>
            <a:ext cx="6577783" cy="4745797"/>
          </a:xfrm>
          <a:prstGeom prst="rect">
            <a:avLst/>
          </a:prstGeom>
        </p:spPr>
      </p:pic>
      <p:pic>
        <p:nvPicPr>
          <p:cNvPr id="15" name="Picture 14" descr="A screenshot of a graph&#10;&#10;AI-generated content may be incorrect.">
            <a:extLst>
              <a:ext uri="{FF2B5EF4-FFF2-40B4-BE49-F238E27FC236}">
                <a16:creationId xmlns:a16="http://schemas.microsoft.com/office/drawing/2014/main" id="{9BC75276-4ABB-7708-5ABA-9E31FAE4E2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969" b="15826"/>
          <a:stretch>
            <a:fillRect/>
          </a:stretch>
        </p:blipFill>
        <p:spPr>
          <a:xfrm>
            <a:off x="0" y="1187027"/>
            <a:ext cx="5614217" cy="506129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945832E-EB59-CD80-8B38-1B1CE2ED4526}"/>
              </a:ext>
            </a:extLst>
          </p:cNvPr>
          <p:cNvSpPr txBox="1"/>
          <p:nvPr/>
        </p:nvSpPr>
        <p:spPr>
          <a:xfrm>
            <a:off x="1789470" y="6123543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 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C2ED22-4DB1-1377-F411-7B27ACEC004F}"/>
              </a:ext>
            </a:extLst>
          </p:cNvPr>
          <p:cNvSpPr txBox="1"/>
          <p:nvPr/>
        </p:nvSpPr>
        <p:spPr>
          <a:xfrm>
            <a:off x="7583129" y="6121589"/>
            <a:ext cx="1629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 9 and 10</a:t>
            </a:r>
          </a:p>
        </p:txBody>
      </p:sp>
    </p:spTree>
    <p:extLst>
      <p:ext uri="{BB962C8B-B14F-4D97-AF65-F5344CB8AC3E}">
        <p14:creationId xmlns:p14="http://schemas.microsoft.com/office/powerpoint/2010/main" val="3963286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71F76-2AE0-3946-BE3B-4325F4783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S2 (pathway-pathway self-correlation)</a:t>
            </a:r>
          </a:p>
        </p:txBody>
      </p:sp>
      <p:pic>
        <p:nvPicPr>
          <p:cNvPr id="5" name="Content Placeholder 4" descr="A screenshot of a computer generated data&#10;&#10;AI-generated content may be incorrect.">
            <a:extLst>
              <a:ext uri="{FF2B5EF4-FFF2-40B4-BE49-F238E27FC236}">
                <a16:creationId xmlns:a16="http://schemas.microsoft.com/office/drawing/2014/main" id="{EC689223-6D2D-939E-2506-9162796526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0108" b="18535"/>
          <a:stretch>
            <a:fillRect/>
          </a:stretch>
        </p:blipFill>
        <p:spPr>
          <a:xfrm>
            <a:off x="0" y="1425536"/>
            <a:ext cx="5624051" cy="4915522"/>
          </a:xfrm>
        </p:spPr>
      </p:pic>
      <p:pic>
        <p:nvPicPr>
          <p:cNvPr id="7" name="Picture 6" descr="A screenshot of a computer generated data&#10;&#10;AI-generated content may be incorrect.">
            <a:extLst>
              <a:ext uri="{FF2B5EF4-FFF2-40B4-BE49-F238E27FC236}">
                <a16:creationId xmlns:a16="http://schemas.microsoft.com/office/drawing/2014/main" id="{E7D71845-1A73-7FB8-5FCF-654C9C1A22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237"/>
          <a:stretch>
            <a:fillRect/>
          </a:stretch>
        </p:blipFill>
        <p:spPr>
          <a:xfrm>
            <a:off x="5830529" y="1572363"/>
            <a:ext cx="6361471" cy="46218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D3A70B-DAB8-8734-DE06-0354326D0F9E}"/>
              </a:ext>
            </a:extLst>
          </p:cNvPr>
          <p:cNvSpPr txBox="1"/>
          <p:nvPr/>
        </p:nvSpPr>
        <p:spPr>
          <a:xfrm>
            <a:off x="1789470" y="6123543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4DF66-DCF4-A73F-60FF-1987D2E5992B}"/>
              </a:ext>
            </a:extLst>
          </p:cNvPr>
          <p:cNvSpPr txBox="1"/>
          <p:nvPr/>
        </p:nvSpPr>
        <p:spPr>
          <a:xfrm>
            <a:off x="7583129" y="6121589"/>
            <a:ext cx="1629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 9 and 10</a:t>
            </a:r>
          </a:p>
        </p:txBody>
      </p:sp>
    </p:spTree>
    <p:extLst>
      <p:ext uri="{BB962C8B-B14F-4D97-AF65-F5344CB8AC3E}">
        <p14:creationId xmlns:p14="http://schemas.microsoft.com/office/powerpoint/2010/main" val="3775905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9C645A0-F2BA-04FE-3C48-C54A6216C23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NS1-w9w10 Taxa-Pathway Correlation Network (previous figure)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85F508F1-9AA2-52E1-2D72-003B24ED7C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91"/>
          <a:stretch>
            <a:fillRect/>
          </a:stretch>
        </p:blipFill>
        <p:spPr>
          <a:xfrm>
            <a:off x="4847304" y="1170038"/>
            <a:ext cx="7260044" cy="56260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5588D7-8733-3C7B-750D-30F5E8C5B616}"/>
              </a:ext>
            </a:extLst>
          </p:cNvPr>
          <p:cNvSpPr txBox="1"/>
          <p:nvPr/>
        </p:nvSpPr>
        <p:spPr>
          <a:xfrm>
            <a:off x="-16025" y="1265107"/>
            <a:ext cx="3862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Enriched in NS1-w9w10 compared to</a:t>
            </a:r>
          </a:p>
          <a:p>
            <a:r>
              <a:rPr lang="en-US" dirty="0"/>
              <a:t>S2-w9w10</a:t>
            </a:r>
          </a:p>
        </p:txBody>
      </p:sp>
    </p:spTree>
    <p:extLst>
      <p:ext uri="{BB962C8B-B14F-4D97-AF65-F5344CB8AC3E}">
        <p14:creationId xmlns:p14="http://schemas.microsoft.com/office/powerpoint/2010/main" val="1070818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B9E9-5E74-94A4-AB04-7C87F66B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Taxa-Pathway Correlation Adjustment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F33422-6ED2-C14B-379B-747311CBF6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2566261"/>
              </p:ext>
            </p:extLst>
          </p:nvPr>
        </p:nvGraphicFramePr>
        <p:xfrm>
          <a:off x="2057400" y="1569987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2583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F492B-9332-87B0-DEBD-0A9AC938C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E240F15-E042-87F0-BAB6-F9462F6B801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NS1-w9w10 Taxa-Pathway Correlation Network (current figure)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91B0D2-EE30-8C6F-A0AE-9133763488C6}"/>
              </a:ext>
            </a:extLst>
          </p:cNvPr>
          <p:cNvSpPr txBox="1"/>
          <p:nvPr/>
        </p:nvSpPr>
        <p:spPr>
          <a:xfrm>
            <a:off x="-16025" y="1265107"/>
            <a:ext cx="3862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Enriched in NS1-w9w10 compared to</a:t>
            </a:r>
          </a:p>
          <a:p>
            <a:r>
              <a:rPr lang="en-US" dirty="0"/>
              <a:t>S2-w9w10</a:t>
            </a:r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20B3B42C-28BB-CB42-6562-43E74F35D5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973"/>
          <a:stretch>
            <a:fillRect/>
          </a:stretch>
        </p:blipFill>
        <p:spPr>
          <a:xfrm>
            <a:off x="4984953" y="1325562"/>
            <a:ext cx="7026377" cy="54219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2409E1-499A-7324-758D-4FC522167429}"/>
              </a:ext>
            </a:extLst>
          </p:cNvPr>
          <p:cNvSpPr txBox="1"/>
          <p:nvPr/>
        </p:nvSpPr>
        <p:spPr>
          <a:xfrm>
            <a:off x="47080" y="2054941"/>
            <a:ext cx="42705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*Each black dot in each cell represents a </a:t>
            </a:r>
          </a:p>
          <a:p>
            <a:r>
              <a:rPr lang="en-US" dirty="0"/>
              <a:t>pathway predicted to be encoded</a:t>
            </a:r>
          </a:p>
          <a:p>
            <a:r>
              <a:rPr lang="en-US" dirty="0"/>
              <a:t>by that taxon*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7E198A-FBC1-6B41-8C59-29F032A64326}"/>
              </a:ext>
            </a:extLst>
          </p:cNvPr>
          <p:cNvSpPr txBox="1"/>
          <p:nvPr/>
        </p:nvSpPr>
        <p:spPr>
          <a:xfrm>
            <a:off x="117915" y="3707649"/>
            <a:ext cx="48670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ASVs mapped only to genus were filtered out</a:t>
            </a:r>
          </a:p>
          <a:p>
            <a:pPr marL="285750" indent="-285750">
              <a:buFontTx/>
              <a:buChar char="-"/>
            </a:pPr>
            <a:r>
              <a:rPr lang="en-US" dirty="0"/>
              <a:t>PICRUSt2 predicts functional potential</a:t>
            </a:r>
          </a:p>
          <a:p>
            <a:pPr marL="285750" indent="-285750">
              <a:buFontTx/>
              <a:buChar char="-"/>
            </a:pPr>
            <a:r>
              <a:rPr lang="en-US" dirty="0"/>
              <a:t>Metabolic pathways were verified </a:t>
            </a:r>
          </a:p>
          <a:p>
            <a:r>
              <a:rPr lang="en-US" dirty="0"/>
              <a:t>from the output of 3 inoculum samples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B9EBD14F-5837-C98B-78B6-E7DCD16803F6}"/>
              </a:ext>
            </a:extLst>
          </p:cNvPr>
          <p:cNvSpPr/>
          <p:nvPr/>
        </p:nvSpPr>
        <p:spPr>
          <a:xfrm>
            <a:off x="1915209" y="5053781"/>
            <a:ext cx="336378" cy="5391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D23A3C-4A99-6C59-E821-BEF115EC8A91}"/>
              </a:ext>
            </a:extLst>
          </p:cNvPr>
          <p:cNvSpPr txBox="1"/>
          <p:nvPr/>
        </p:nvSpPr>
        <p:spPr>
          <a:xfrm>
            <a:off x="-16025" y="5738696"/>
            <a:ext cx="5242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Genome annotation with </a:t>
            </a:r>
            <a:r>
              <a:rPr lang="en-US" u="sng" dirty="0" err="1"/>
              <a:t>MetaCyc</a:t>
            </a:r>
            <a:r>
              <a:rPr lang="en-US" u="sng" dirty="0"/>
              <a:t> PGDB inference </a:t>
            </a:r>
          </a:p>
          <a:p>
            <a:r>
              <a:rPr lang="en-US" dirty="0"/>
              <a:t>or </a:t>
            </a:r>
            <a:r>
              <a:rPr lang="en-US" u="sng" dirty="0"/>
              <a:t>DRAM</a:t>
            </a:r>
            <a:r>
              <a:rPr lang="en-US" dirty="0"/>
              <a:t> (</a:t>
            </a:r>
            <a:r>
              <a:rPr lang="en-US" dirty="0" err="1"/>
              <a:t>MetaCyc</a:t>
            </a:r>
            <a:r>
              <a:rPr lang="en-US" dirty="0"/>
              <a:t> support) </a:t>
            </a:r>
          </a:p>
        </p:txBody>
      </p:sp>
    </p:spTree>
    <p:extLst>
      <p:ext uri="{BB962C8B-B14F-4D97-AF65-F5344CB8AC3E}">
        <p14:creationId xmlns:p14="http://schemas.microsoft.com/office/powerpoint/2010/main" val="199175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674F20-DEA7-5101-22DC-431E80959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" y="11435"/>
            <a:ext cx="10515600" cy="1325563"/>
          </a:xfrm>
        </p:spPr>
        <p:txBody>
          <a:bodyPr/>
          <a:lstStyle/>
          <a:p>
            <a:r>
              <a:rPr lang="en-US" dirty="0"/>
              <a:t>NS1-w9w10 Taxa-Pathway Correlation Network (previous figure)</a:t>
            </a:r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83580BBB-B909-F5AE-E68C-64EFACCF4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859" t="4431" r="9517" b="6355"/>
          <a:stretch>
            <a:fillRect/>
          </a:stretch>
        </p:blipFill>
        <p:spPr>
          <a:xfrm>
            <a:off x="1275907" y="1355051"/>
            <a:ext cx="9171320" cy="5346251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1ED890E-7E02-D301-E781-FA007643D132}"/>
              </a:ext>
            </a:extLst>
          </p:cNvPr>
          <p:cNvSpPr/>
          <p:nvPr/>
        </p:nvSpPr>
        <p:spPr>
          <a:xfrm>
            <a:off x="11040492" y="376244"/>
            <a:ext cx="247784" cy="247784"/>
          </a:xfrm>
          <a:prstGeom prst="ellipse">
            <a:avLst/>
          </a:prstGeom>
          <a:solidFill>
            <a:srgbClr val="1E1D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A1C1D6-74E2-F478-7EF6-51F5CAC42AB9}"/>
              </a:ext>
            </a:extLst>
          </p:cNvPr>
          <p:cNvSpPr/>
          <p:nvPr/>
        </p:nvSpPr>
        <p:spPr>
          <a:xfrm>
            <a:off x="11040491" y="700327"/>
            <a:ext cx="247785" cy="247785"/>
          </a:xfrm>
          <a:prstGeom prst="ellipse">
            <a:avLst/>
          </a:prstGeom>
          <a:solidFill>
            <a:srgbClr val="D087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6E338-05B1-F8A9-810F-77E18595D122}"/>
              </a:ext>
            </a:extLst>
          </p:cNvPr>
          <p:cNvSpPr txBox="1"/>
          <p:nvPr/>
        </p:nvSpPr>
        <p:spPr>
          <a:xfrm>
            <a:off x="10457605" y="0"/>
            <a:ext cx="1811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Node Category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9CCD65-BB71-655D-C98B-C7C37DD40A9A}"/>
              </a:ext>
            </a:extLst>
          </p:cNvPr>
          <p:cNvSpPr txBox="1"/>
          <p:nvPr/>
        </p:nvSpPr>
        <p:spPr>
          <a:xfrm>
            <a:off x="11246370" y="346248"/>
            <a:ext cx="629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Taxon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1D1FC0-7231-8FB7-123B-6B3B1809EFD6}"/>
              </a:ext>
            </a:extLst>
          </p:cNvPr>
          <p:cNvSpPr txBox="1"/>
          <p:nvPr/>
        </p:nvSpPr>
        <p:spPr>
          <a:xfrm>
            <a:off x="11246370" y="676517"/>
            <a:ext cx="8414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Pathway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B7DB0C-B159-499A-05D7-1B091F648ABA}"/>
              </a:ext>
            </a:extLst>
          </p:cNvPr>
          <p:cNvSpPr txBox="1"/>
          <p:nvPr/>
        </p:nvSpPr>
        <p:spPr>
          <a:xfrm>
            <a:off x="9714952" y="1014913"/>
            <a:ext cx="2444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Spearman </a:t>
            </a:r>
            <a:r>
              <a:rPr lang="en-CA" b="1" dirty="0"/>
              <a:t>coefficient</a:t>
            </a:r>
            <a:endParaRPr lang="en-US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5F2872-9E5D-39FB-238A-D965FE493E1A}"/>
              </a:ext>
            </a:extLst>
          </p:cNvPr>
          <p:cNvCxnSpPr/>
          <p:nvPr/>
        </p:nvCxnSpPr>
        <p:spPr>
          <a:xfrm>
            <a:off x="10880377" y="1482621"/>
            <a:ext cx="8723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221317-63A2-BBBF-A11F-F826F2F44EF5}"/>
              </a:ext>
            </a:extLst>
          </p:cNvPr>
          <p:cNvCxnSpPr/>
          <p:nvPr/>
        </p:nvCxnSpPr>
        <p:spPr>
          <a:xfrm>
            <a:off x="10880377" y="1680523"/>
            <a:ext cx="8723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AC1808-C743-CAFA-0786-1167247A16E9}"/>
              </a:ext>
            </a:extLst>
          </p:cNvPr>
          <p:cNvCxnSpPr/>
          <p:nvPr/>
        </p:nvCxnSpPr>
        <p:spPr>
          <a:xfrm>
            <a:off x="10880377" y="1878970"/>
            <a:ext cx="87234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4C7F841-E47C-CF33-0355-3F8CA8A699A0}"/>
              </a:ext>
            </a:extLst>
          </p:cNvPr>
          <p:cNvCxnSpPr/>
          <p:nvPr/>
        </p:nvCxnSpPr>
        <p:spPr>
          <a:xfrm>
            <a:off x="10880377" y="2080222"/>
            <a:ext cx="87234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23F0C97-1A0B-9584-BBCA-59498542BC73}"/>
              </a:ext>
            </a:extLst>
          </p:cNvPr>
          <p:cNvSpPr txBox="1"/>
          <p:nvPr/>
        </p:nvSpPr>
        <p:spPr>
          <a:xfrm>
            <a:off x="11772265" y="1384245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0.7</a:t>
            </a:r>
          </a:p>
          <a:p>
            <a:r>
              <a:rPr lang="en-US" sz="1200" dirty="0"/>
              <a:t>0.8</a:t>
            </a:r>
          </a:p>
          <a:p>
            <a:r>
              <a:rPr lang="en-US" sz="1200" dirty="0"/>
              <a:t>0.9</a:t>
            </a:r>
          </a:p>
          <a:p>
            <a:r>
              <a:rPr lang="en-US" sz="1200" dirty="0"/>
              <a:t>1.0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990920-8DA3-CFE2-2C2C-1F737B569B61}"/>
              </a:ext>
            </a:extLst>
          </p:cNvPr>
          <p:cNvSpPr txBox="1"/>
          <p:nvPr/>
        </p:nvSpPr>
        <p:spPr>
          <a:xfrm>
            <a:off x="10437475" y="2270326"/>
            <a:ext cx="161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Directionality</a:t>
            </a:r>
            <a:endParaRPr lang="en-US" b="1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DC83B0-26C5-C078-3514-04D6C807A362}"/>
              </a:ext>
            </a:extLst>
          </p:cNvPr>
          <p:cNvCxnSpPr/>
          <p:nvPr/>
        </p:nvCxnSpPr>
        <p:spPr>
          <a:xfrm>
            <a:off x="10549418" y="2749079"/>
            <a:ext cx="87234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AE1495-9926-6C42-1087-7DD5ABE0489E}"/>
              </a:ext>
            </a:extLst>
          </p:cNvPr>
          <p:cNvCxnSpPr/>
          <p:nvPr/>
        </p:nvCxnSpPr>
        <p:spPr>
          <a:xfrm>
            <a:off x="10558044" y="2944207"/>
            <a:ext cx="87234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3E7F5BF-E470-CA5D-9EEC-A73F5163CFC0}"/>
              </a:ext>
            </a:extLst>
          </p:cNvPr>
          <p:cNvSpPr txBox="1"/>
          <p:nvPr/>
        </p:nvSpPr>
        <p:spPr>
          <a:xfrm>
            <a:off x="11402212" y="2564413"/>
            <a:ext cx="861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Positive</a:t>
            </a:r>
          </a:p>
          <a:p>
            <a:r>
              <a:rPr lang="en-US" sz="1400" dirty="0"/>
              <a:t>Negative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610278-B8A4-067F-6543-C68E6BE4B251}"/>
              </a:ext>
            </a:extLst>
          </p:cNvPr>
          <p:cNvSpPr txBox="1"/>
          <p:nvPr/>
        </p:nvSpPr>
        <p:spPr>
          <a:xfrm>
            <a:off x="10273633" y="3087633"/>
            <a:ext cx="1989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Centrality degree</a:t>
            </a:r>
            <a:endParaRPr lang="en-US" b="1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AC40240-E9D3-E115-B9CD-56003A32A696}"/>
              </a:ext>
            </a:extLst>
          </p:cNvPr>
          <p:cNvSpPr/>
          <p:nvPr/>
        </p:nvSpPr>
        <p:spPr>
          <a:xfrm>
            <a:off x="10991219" y="3552446"/>
            <a:ext cx="300846" cy="300846"/>
          </a:xfrm>
          <a:prstGeom prst="ellipse">
            <a:avLst/>
          </a:prstGeom>
          <a:solidFill>
            <a:srgbClr val="1E1D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FF51741-DD75-9FAD-3A3D-BCC354823697}"/>
              </a:ext>
            </a:extLst>
          </p:cNvPr>
          <p:cNvSpPr/>
          <p:nvPr/>
        </p:nvSpPr>
        <p:spPr>
          <a:xfrm>
            <a:off x="10479143" y="3609956"/>
            <a:ext cx="186040" cy="186040"/>
          </a:xfrm>
          <a:prstGeom prst="ellipse">
            <a:avLst/>
          </a:prstGeom>
          <a:solidFill>
            <a:srgbClr val="1E1D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5296FFF-F7DD-685F-4959-4682D9EEE91A}"/>
              </a:ext>
            </a:extLst>
          </p:cNvPr>
          <p:cNvSpPr/>
          <p:nvPr/>
        </p:nvSpPr>
        <p:spPr>
          <a:xfrm>
            <a:off x="11525640" y="3459090"/>
            <a:ext cx="432407" cy="432407"/>
          </a:xfrm>
          <a:prstGeom prst="ellipse">
            <a:avLst/>
          </a:prstGeom>
          <a:solidFill>
            <a:srgbClr val="1E1D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18539FA-FDFF-7C49-EFF2-CB9A5FABFFC3}"/>
              </a:ext>
            </a:extLst>
          </p:cNvPr>
          <p:cNvSpPr/>
          <p:nvPr/>
        </p:nvSpPr>
        <p:spPr>
          <a:xfrm>
            <a:off x="11210228" y="4160162"/>
            <a:ext cx="820323" cy="820323"/>
          </a:xfrm>
          <a:prstGeom prst="ellipse">
            <a:avLst/>
          </a:prstGeom>
          <a:solidFill>
            <a:srgbClr val="1E1D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AF08CDC-E139-88B6-6191-BBED2C050AE0}"/>
              </a:ext>
            </a:extLst>
          </p:cNvPr>
          <p:cNvSpPr/>
          <p:nvPr/>
        </p:nvSpPr>
        <p:spPr>
          <a:xfrm>
            <a:off x="10478689" y="4240396"/>
            <a:ext cx="613812" cy="613812"/>
          </a:xfrm>
          <a:prstGeom prst="ellipse">
            <a:avLst/>
          </a:prstGeom>
          <a:solidFill>
            <a:srgbClr val="1E1D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CBDA3F-FB59-306F-2A88-2C05F69CF9C9}"/>
              </a:ext>
            </a:extLst>
          </p:cNvPr>
          <p:cNvSpPr txBox="1"/>
          <p:nvPr/>
        </p:nvSpPr>
        <p:spPr>
          <a:xfrm>
            <a:off x="10299404" y="3823451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1-2      3-4      5-6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AACBB5-2D47-45F9-0889-1C29A0086546}"/>
              </a:ext>
            </a:extLst>
          </p:cNvPr>
          <p:cNvSpPr txBox="1"/>
          <p:nvPr/>
        </p:nvSpPr>
        <p:spPr>
          <a:xfrm>
            <a:off x="10533741" y="4997958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7-8              8+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083C97-7585-D51E-6453-701C66C95F2B}"/>
              </a:ext>
            </a:extLst>
          </p:cNvPr>
          <p:cNvSpPr txBox="1"/>
          <p:nvPr/>
        </p:nvSpPr>
        <p:spPr>
          <a:xfrm>
            <a:off x="10334133" y="5367290"/>
            <a:ext cx="244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Sample size contribution (%)</a:t>
            </a:r>
            <a:endParaRPr lang="en-US" b="1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38C03C-5857-79E5-67A3-DDB3626F53D4}"/>
              </a:ext>
            </a:extLst>
          </p:cNvPr>
          <p:cNvSpPr/>
          <p:nvPr/>
        </p:nvSpPr>
        <p:spPr>
          <a:xfrm>
            <a:off x="10519122" y="6028715"/>
            <a:ext cx="251995" cy="251995"/>
          </a:xfrm>
          <a:prstGeom prst="ellipse">
            <a:avLst/>
          </a:prstGeom>
          <a:solidFill>
            <a:srgbClr val="D08732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00F0D41-8FE1-8042-058A-2A5DF51B12A8}"/>
              </a:ext>
            </a:extLst>
          </p:cNvPr>
          <p:cNvSpPr/>
          <p:nvPr/>
        </p:nvSpPr>
        <p:spPr>
          <a:xfrm>
            <a:off x="11148579" y="6028994"/>
            <a:ext cx="251995" cy="251995"/>
          </a:xfrm>
          <a:prstGeom prst="ellipse">
            <a:avLst/>
          </a:prstGeom>
          <a:solidFill>
            <a:srgbClr val="D08732">
              <a:alpha val="3969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06BB206-B32C-EB5A-8866-BC7F6983D972}"/>
              </a:ext>
            </a:extLst>
          </p:cNvPr>
          <p:cNvSpPr/>
          <p:nvPr/>
        </p:nvSpPr>
        <p:spPr>
          <a:xfrm>
            <a:off x="11741843" y="6028994"/>
            <a:ext cx="251995" cy="251995"/>
          </a:xfrm>
          <a:prstGeom prst="ellipse">
            <a:avLst/>
          </a:prstGeom>
          <a:solidFill>
            <a:srgbClr val="D08732">
              <a:alpha val="603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2A5D82D-A513-2BA8-FCC0-65CAFD9C92E7}"/>
              </a:ext>
            </a:extLst>
          </p:cNvPr>
          <p:cNvSpPr/>
          <p:nvPr/>
        </p:nvSpPr>
        <p:spPr>
          <a:xfrm>
            <a:off x="10788496" y="6421692"/>
            <a:ext cx="251995" cy="251995"/>
          </a:xfrm>
          <a:prstGeom prst="ellipse">
            <a:avLst/>
          </a:prstGeom>
          <a:solidFill>
            <a:srgbClr val="D08732">
              <a:alpha val="7989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09942A3-2E6C-2218-32E9-FC04405D8A2C}"/>
              </a:ext>
            </a:extLst>
          </p:cNvPr>
          <p:cNvSpPr/>
          <p:nvPr/>
        </p:nvSpPr>
        <p:spPr>
          <a:xfrm>
            <a:off x="11487891" y="6421692"/>
            <a:ext cx="251995" cy="251995"/>
          </a:xfrm>
          <a:prstGeom prst="ellipse">
            <a:avLst/>
          </a:prstGeom>
          <a:solidFill>
            <a:srgbClr val="D087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0E2609-2AC5-C108-5826-44D9037148E4}"/>
              </a:ext>
            </a:extLst>
          </p:cNvPr>
          <p:cNvSpPr txBox="1"/>
          <p:nvPr/>
        </p:nvSpPr>
        <p:spPr>
          <a:xfrm>
            <a:off x="10364259" y="6222269"/>
            <a:ext cx="1755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0-20         20-40       40-60</a:t>
            </a:r>
          </a:p>
          <a:p>
            <a:endParaRPr lang="en-US" sz="1200" dirty="0"/>
          </a:p>
          <a:p>
            <a:r>
              <a:rPr lang="en-US" sz="1200" dirty="0"/>
              <a:t>         60-80          80-100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113511-0B68-94C4-1A0D-0B72B8B79786}"/>
              </a:ext>
            </a:extLst>
          </p:cNvPr>
          <p:cNvSpPr txBox="1"/>
          <p:nvPr/>
        </p:nvSpPr>
        <p:spPr>
          <a:xfrm>
            <a:off x="-16025" y="1265107"/>
            <a:ext cx="3862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Enriched in NS1-w9w10 compared to</a:t>
            </a:r>
          </a:p>
          <a:p>
            <a:r>
              <a:rPr lang="en-US" dirty="0"/>
              <a:t>S2-w9w10</a:t>
            </a:r>
          </a:p>
        </p:txBody>
      </p:sp>
      <p:sp>
        <p:nvSpPr>
          <p:cNvPr id="37" name="Triangle 36">
            <a:extLst>
              <a:ext uri="{FF2B5EF4-FFF2-40B4-BE49-F238E27FC236}">
                <a16:creationId xmlns:a16="http://schemas.microsoft.com/office/drawing/2014/main" id="{1823E6F3-E31F-C20C-8D63-DD20E622050D}"/>
              </a:ext>
            </a:extLst>
          </p:cNvPr>
          <p:cNvSpPr/>
          <p:nvPr/>
        </p:nvSpPr>
        <p:spPr>
          <a:xfrm>
            <a:off x="8409652" y="6087547"/>
            <a:ext cx="502014" cy="432771"/>
          </a:xfrm>
          <a:prstGeom prst="triangle">
            <a:avLst/>
          </a:prstGeom>
          <a:solidFill>
            <a:srgbClr val="1E1D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CE3BDF0-58F1-72B1-62AE-36841A9A25CF}"/>
              </a:ext>
            </a:extLst>
          </p:cNvPr>
          <p:cNvSpPr/>
          <p:nvPr/>
        </p:nvSpPr>
        <p:spPr>
          <a:xfrm>
            <a:off x="9182611" y="6121702"/>
            <a:ext cx="432407" cy="432407"/>
          </a:xfrm>
          <a:prstGeom prst="ellipse">
            <a:avLst/>
          </a:prstGeom>
          <a:solidFill>
            <a:srgbClr val="1E1D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110582-ACDF-D179-8B46-B0888FE5DD71}"/>
              </a:ext>
            </a:extLst>
          </p:cNvPr>
          <p:cNvSpPr txBox="1"/>
          <p:nvPr/>
        </p:nvSpPr>
        <p:spPr>
          <a:xfrm>
            <a:off x="8194933" y="6546935"/>
            <a:ext cx="1701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Unique  Shared</a:t>
            </a:r>
          </a:p>
        </p:txBody>
      </p:sp>
    </p:spTree>
    <p:extLst>
      <p:ext uri="{BB962C8B-B14F-4D97-AF65-F5344CB8AC3E}">
        <p14:creationId xmlns:p14="http://schemas.microsoft.com/office/powerpoint/2010/main" val="1031145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36C86-EED2-CBC5-4789-B56B9491F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" y="0"/>
            <a:ext cx="9567295" cy="1325563"/>
          </a:xfrm>
        </p:spPr>
        <p:txBody>
          <a:bodyPr/>
          <a:lstStyle/>
          <a:p>
            <a:r>
              <a:rPr lang="en-US" dirty="0"/>
              <a:t>NS1 Enriched and correlated taxa-pathways (current figure)</a:t>
            </a:r>
          </a:p>
        </p:txBody>
      </p:sp>
      <p:pic>
        <p:nvPicPr>
          <p:cNvPr id="5" name="Content Placeholder 4" descr="A diagram of a group of circles and lines&#10;&#10;AI-generated content may be incorrect.">
            <a:extLst>
              <a:ext uri="{FF2B5EF4-FFF2-40B4-BE49-F238E27FC236}">
                <a16:creationId xmlns:a16="http://schemas.microsoft.com/office/drawing/2014/main" id="{F37CCE26-CE56-AFC3-BDD3-0372C8204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721" t="4818" r="23926"/>
          <a:stretch>
            <a:fillRect/>
          </a:stretch>
        </p:blipFill>
        <p:spPr>
          <a:xfrm>
            <a:off x="0" y="1453374"/>
            <a:ext cx="9094839" cy="4988359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4B99053-6FC0-E8C3-4313-C30CEBEC1DD5}"/>
              </a:ext>
            </a:extLst>
          </p:cNvPr>
          <p:cNvSpPr/>
          <p:nvPr/>
        </p:nvSpPr>
        <p:spPr>
          <a:xfrm>
            <a:off x="9948861" y="495010"/>
            <a:ext cx="247784" cy="247784"/>
          </a:xfrm>
          <a:prstGeom prst="ellipse">
            <a:avLst/>
          </a:prstGeom>
          <a:solidFill>
            <a:srgbClr val="1E1D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692F18-DEC1-95EB-459E-DF19F0EC32E4}"/>
              </a:ext>
            </a:extLst>
          </p:cNvPr>
          <p:cNvSpPr/>
          <p:nvPr/>
        </p:nvSpPr>
        <p:spPr>
          <a:xfrm>
            <a:off x="10919750" y="492328"/>
            <a:ext cx="247785" cy="247785"/>
          </a:xfrm>
          <a:prstGeom prst="ellipse">
            <a:avLst/>
          </a:prstGeom>
          <a:solidFill>
            <a:srgbClr val="D087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FFC50-3426-8B40-74F8-4CDE4F193A44}"/>
              </a:ext>
            </a:extLst>
          </p:cNvPr>
          <p:cNvSpPr txBox="1"/>
          <p:nvPr/>
        </p:nvSpPr>
        <p:spPr>
          <a:xfrm>
            <a:off x="10278483" y="126750"/>
            <a:ext cx="13949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Node Category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52E62-E2E7-54A6-B6E3-FF541A7D9524}"/>
              </a:ext>
            </a:extLst>
          </p:cNvPr>
          <p:cNvSpPr txBox="1"/>
          <p:nvPr/>
        </p:nvSpPr>
        <p:spPr>
          <a:xfrm>
            <a:off x="10154739" y="465014"/>
            <a:ext cx="563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Taxon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3EFB3A-7BE4-B63E-045E-33E3B19D30C6}"/>
              </a:ext>
            </a:extLst>
          </p:cNvPr>
          <p:cNvSpPr txBox="1"/>
          <p:nvPr/>
        </p:nvSpPr>
        <p:spPr>
          <a:xfrm>
            <a:off x="11125629" y="468518"/>
            <a:ext cx="74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Pathway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B0D2A9-5A36-97B8-DE62-069AA7B00497}"/>
              </a:ext>
            </a:extLst>
          </p:cNvPr>
          <p:cNvSpPr txBox="1"/>
          <p:nvPr/>
        </p:nvSpPr>
        <p:spPr>
          <a:xfrm>
            <a:off x="10002796" y="3703405"/>
            <a:ext cx="1946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Spearman </a:t>
            </a:r>
            <a:r>
              <a:rPr lang="en-CA" sz="1400" b="1" dirty="0"/>
              <a:t>coefficient</a:t>
            </a:r>
            <a:endParaRPr lang="en-US" sz="1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DDD977-6458-6C00-2FD0-7E9C2E923177}"/>
              </a:ext>
            </a:extLst>
          </p:cNvPr>
          <p:cNvCxnSpPr/>
          <p:nvPr/>
        </p:nvCxnSpPr>
        <p:spPr>
          <a:xfrm>
            <a:off x="10701229" y="4014495"/>
            <a:ext cx="8723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EF06B3-3CE9-06C3-980B-FFBDA9AF3950}"/>
              </a:ext>
            </a:extLst>
          </p:cNvPr>
          <p:cNvCxnSpPr/>
          <p:nvPr/>
        </p:nvCxnSpPr>
        <p:spPr>
          <a:xfrm>
            <a:off x="10701229" y="4212397"/>
            <a:ext cx="8723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52D3BF0-A9BC-AA87-B5EA-C7D7E0820161}"/>
              </a:ext>
            </a:extLst>
          </p:cNvPr>
          <p:cNvCxnSpPr/>
          <p:nvPr/>
        </p:nvCxnSpPr>
        <p:spPr>
          <a:xfrm>
            <a:off x="10701229" y="4410844"/>
            <a:ext cx="87234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487C3F-A745-A46F-ECB8-CB6BC537302A}"/>
              </a:ext>
            </a:extLst>
          </p:cNvPr>
          <p:cNvCxnSpPr/>
          <p:nvPr/>
        </p:nvCxnSpPr>
        <p:spPr>
          <a:xfrm>
            <a:off x="10701229" y="4612096"/>
            <a:ext cx="87234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B25CC84-12E8-4AB6-75D8-C781E2D2B0FF}"/>
              </a:ext>
            </a:extLst>
          </p:cNvPr>
          <p:cNvSpPr txBox="1"/>
          <p:nvPr/>
        </p:nvSpPr>
        <p:spPr>
          <a:xfrm>
            <a:off x="11593117" y="3916119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0.7</a:t>
            </a:r>
          </a:p>
          <a:p>
            <a:r>
              <a:rPr lang="en-US" sz="1200" dirty="0"/>
              <a:t>0.8</a:t>
            </a:r>
          </a:p>
          <a:p>
            <a:r>
              <a:rPr lang="en-US" sz="1200" dirty="0"/>
              <a:t>0.9</a:t>
            </a:r>
          </a:p>
          <a:p>
            <a:r>
              <a:rPr lang="en-US" sz="1200" dirty="0"/>
              <a:t>1.0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C15BA8-688C-83ED-46F1-5A7761E6D4D0}"/>
              </a:ext>
            </a:extLst>
          </p:cNvPr>
          <p:cNvSpPr txBox="1"/>
          <p:nvPr/>
        </p:nvSpPr>
        <p:spPr>
          <a:xfrm>
            <a:off x="10330002" y="4820222"/>
            <a:ext cx="1291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b="1" dirty="0"/>
              <a:t>Directionality</a:t>
            </a:r>
            <a:endParaRPr lang="en-US" sz="1400" b="1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D3BE15E-62A3-9535-A2B5-D38899B14056}"/>
              </a:ext>
            </a:extLst>
          </p:cNvPr>
          <p:cNvCxnSpPr/>
          <p:nvPr/>
        </p:nvCxnSpPr>
        <p:spPr>
          <a:xfrm>
            <a:off x="10474954" y="5167571"/>
            <a:ext cx="87234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1408305-24CB-1017-72FA-CA8DDB58A941}"/>
              </a:ext>
            </a:extLst>
          </p:cNvPr>
          <p:cNvCxnSpPr/>
          <p:nvPr/>
        </p:nvCxnSpPr>
        <p:spPr>
          <a:xfrm>
            <a:off x="10483580" y="5323371"/>
            <a:ext cx="87234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9CA84AF-85AA-9E3A-DC0F-1C558922736D}"/>
              </a:ext>
            </a:extLst>
          </p:cNvPr>
          <p:cNvSpPr txBox="1"/>
          <p:nvPr/>
        </p:nvSpPr>
        <p:spPr>
          <a:xfrm>
            <a:off x="11289466" y="5002050"/>
            <a:ext cx="765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Positive</a:t>
            </a:r>
          </a:p>
          <a:p>
            <a:r>
              <a:rPr lang="en-US" sz="1200" dirty="0"/>
              <a:t>Negative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66DEB7-B8A3-C38D-09D6-705F6C6EC046}"/>
              </a:ext>
            </a:extLst>
          </p:cNvPr>
          <p:cNvSpPr txBox="1"/>
          <p:nvPr/>
        </p:nvSpPr>
        <p:spPr>
          <a:xfrm>
            <a:off x="9772160" y="5505198"/>
            <a:ext cx="2443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Sample size (%)</a:t>
            </a:r>
            <a:endParaRPr lang="en-US" sz="1400" b="1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0E7797B-AD17-6D27-5422-3C18226789E5}"/>
              </a:ext>
            </a:extLst>
          </p:cNvPr>
          <p:cNvSpPr/>
          <p:nvPr/>
        </p:nvSpPr>
        <p:spPr>
          <a:xfrm>
            <a:off x="10129474" y="5828433"/>
            <a:ext cx="251995" cy="251995"/>
          </a:xfrm>
          <a:prstGeom prst="ellipse">
            <a:avLst/>
          </a:prstGeom>
          <a:solidFill>
            <a:srgbClr val="D08732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064BF90-CC58-336E-8B5F-4AEF6E5C97EB}"/>
              </a:ext>
            </a:extLst>
          </p:cNvPr>
          <p:cNvSpPr/>
          <p:nvPr/>
        </p:nvSpPr>
        <p:spPr>
          <a:xfrm>
            <a:off x="10758931" y="5828712"/>
            <a:ext cx="251995" cy="251995"/>
          </a:xfrm>
          <a:prstGeom prst="ellipse">
            <a:avLst/>
          </a:prstGeom>
          <a:solidFill>
            <a:srgbClr val="D08732">
              <a:alpha val="3969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2835A20-0ED1-A8E8-7546-227A29864D7E}"/>
              </a:ext>
            </a:extLst>
          </p:cNvPr>
          <p:cNvSpPr/>
          <p:nvPr/>
        </p:nvSpPr>
        <p:spPr>
          <a:xfrm>
            <a:off x="11352195" y="5828712"/>
            <a:ext cx="251995" cy="251995"/>
          </a:xfrm>
          <a:prstGeom prst="ellipse">
            <a:avLst/>
          </a:prstGeom>
          <a:solidFill>
            <a:srgbClr val="D08732">
              <a:alpha val="603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EC79B1F-A877-62AF-7CE8-C810BFDF05A7}"/>
              </a:ext>
            </a:extLst>
          </p:cNvPr>
          <p:cNvSpPr/>
          <p:nvPr/>
        </p:nvSpPr>
        <p:spPr>
          <a:xfrm>
            <a:off x="10466103" y="6258912"/>
            <a:ext cx="251995" cy="251995"/>
          </a:xfrm>
          <a:prstGeom prst="ellipse">
            <a:avLst/>
          </a:prstGeom>
          <a:solidFill>
            <a:srgbClr val="D08732">
              <a:alpha val="7989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7FAFDB2-5FCC-DFBF-B29D-3D84D9B6E61C}"/>
              </a:ext>
            </a:extLst>
          </p:cNvPr>
          <p:cNvSpPr/>
          <p:nvPr/>
        </p:nvSpPr>
        <p:spPr>
          <a:xfrm>
            <a:off x="11164346" y="6258912"/>
            <a:ext cx="251995" cy="251995"/>
          </a:xfrm>
          <a:prstGeom prst="ellipse">
            <a:avLst/>
          </a:prstGeom>
          <a:solidFill>
            <a:srgbClr val="D087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C073CD-2687-745C-0BBD-DD262E4B7BE1}"/>
              </a:ext>
            </a:extLst>
          </p:cNvPr>
          <p:cNvSpPr txBox="1"/>
          <p:nvPr/>
        </p:nvSpPr>
        <p:spPr>
          <a:xfrm>
            <a:off x="10017289" y="6057087"/>
            <a:ext cx="1787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0-20         20-40        40-60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85EBEE-7772-0300-6C43-5F57C8FC2D00}"/>
              </a:ext>
            </a:extLst>
          </p:cNvPr>
          <p:cNvSpPr txBox="1"/>
          <p:nvPr/>
        </p:nvSpPr>
        <p:spPr>
          <a:xfrm>
            <a:off x="10125836" y="983256"/>
            <a:ext cx="17363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Pathway grouping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E6FEAFF-3AB5-6378-AD2A-D4BD65CD573B}"/>
              </a:ext>
            </a:extLst>
          </p:cNvPr>
          <p:cNvSpPr/>
          <p:nvPr/>
        </p:nvSpPr>
        <p:spPr>
          <a:xfrm>
            <a:off x="9962437" y="1329482"/>
            <a:ext cx="247784" cy="247784"/>
          </a:xfrm>
          <a:prstGeom prst="ellipse">
            <a:avLst/>
          </a:prstGeom>
          <a:solidFill>
            <a:srgbClr val="D0D1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B6160EC-E8C9-F0A7-00BB-6D5ECEF73EFF}"/>
              </a:ext>
            </a:extLst>
          </p:cNvPr>
          <p:cNvSpPr/>
          <p:nvPr/>
        </p:nvSpPr>
        <p:spPr>
          <a:xfrm>
            <a:off x="9963750" y="1701572"/>
            <a:ext cx="247784" cy="247784"/>
          </a:xfrm>
          <a:prstGeom prst="ellipse">
            <a:avLst/>
          </a:prstGeom>
          <a:solidFill>
            <a:srgbClr val="C8EA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5CEA9BB-7843-6B9F-2F75-4B7307B1EF3F}"/>
              </a:ext>
            </a:extLst>
          </p:cNvPr>
          <p:cNvSpPr/>
          <p:nvPr/>
        </p:nvSpPr>
        <p:spPr>
          <a:xfrm>
            <a:off x="9956605" y="2137569"/>
            <a:ext cx="247784" cy="247784"/>
          </a:xfrm>
          <a:prstGeom prst="ellipse">
            <a:avLst/>
          </a:prstGeom>
          <a:solidFill>
            <a:srgbClr val="FDE0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ACCC8CD-7556-2394-3A1C-95B3A4924761}"/>
              </a:ext>
            </a:extLst>
          </p:cNvPr>
          <p:cNvSpPr/>
          <p:nvPr/>
        </p:nvSpPr>
        <p:spPr>
          <a:xfrm>
            <a:off x="9962437" y="2467308"/>
            <a:ext cx="247784" cy="247784"/>
          </a:xfrm>
          <a:prstGeom prst="ellipse">
            <a:avLst/>
          </a:prstGeom>
          <a:solidFill>
            <a:srgbClr val="FEE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80811F-B2F0-C84E-B4B9-5968401C1518}"/>
              </a:ext>
            </a:extLst>
          </p:cNvPr>
          <p:cNvSpPr txBox="1"/>
          <p:nvPr/>
        </p:nvSpPr>
        <p:spPr>
          <a:xfrm>
            <a:off x="10218255" y="1250048"/>
            <a:ext cx="1807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Amines and polyamines </a:t>
            </a:r>
          </a:p>
          <a:p>
            <a:r>
              <a:rPr lang="en-US" sz="1200" dirty="0"/>
              <a:t>degradation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C377F7-5360-835D-063C-F3D8F1B6F264}"/>
              </a:ext>
            </a:extLst>
          </p:cNvPr>
          <p:cNvSpPr txBox="1"/>
          <p:nvPr/>
        </p:nvSpPr>
        <p:spPr>
          <a:xfrm>
            <a:off x="10229814" y="1639794"/>
            <a:ext cx="1579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Aromatic compound </a:t>
            </a:r>
          </a:p>
          <a:p>
            <a:r>
              <a:rPr lang="en-US" sz="1200" dirty="0"/>
              <a:t>Degradation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419D21-B78B-F0AE-EAF7-9F67E5CD4B05}"/>
              </a:ext>
            </a:extLst>
          </p:cNvPr>
          <p:cNvSpPr txBox="1"/>
          <p:nvPr/>
        </p:nvSpPr>
        <p:spPr>
          <a:xfrm>
            <a:off x="10234608" y="2144020"/>
            <a:ext cx="16740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L-arginine degradation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1F03F6-1A23-3A4B-74C7-F33021351697}"/>
              </a:ext>
            </a:extLst>
          </p:cNvPr>
          <p:cNvSpPr txBox="1"/>
          <p:nvPr/>
        </p:nvSpPr>
        <p:spPr>
          <a:xfrm>
            <a:off x="10229814" y="2389368"/>
            <a:ext cx="1342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Sugar nucleotide </a:t>
            </a:r>
          </a:p>
          <a:p>
            <a:r>
              <a:rPr lang="en-US" sz="1200" dirty="0"/>
              <a:t>Biosynthesis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ADDA08-84CD-0437-7115-58A9E680FBAE}"/>
              </a:ext>
            </a:extLst>
          </p:cNvPr>
          <p:cNvSpPr txBox="1"/>
          <p:nvPr/>
        </p:nvSpPr>
        <p:spPr>
          <a:xfrm>
            <a:off x="10229814" y="2838034"/>
            <a:ext cx="1628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Cell wall biosynthesis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8B8C74-F314-8F58-4579-1F79AACD6EB2}"/>
              </a:ext>
            </a:extLst>
          </p:cNvPr>
          <p:cNvSpPr txBox="1"/>
          <p:nvPr/>
        </p:nvSpPr>
        <p:spPr>
          <a:xfrm>
            <a:off x="10210221" y="3143533"/>
            <a:ext cx="1238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Electron carrier </a:t>
            </a:r>
          </a:p>
          <a:p>
            <a:r>
              <a:rPr lang="en-US" sz="1200" dirty="0"/>
              <a:t>biosynthesis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6EF2F7A-D885-0241-0FA0-FC4405592C33}"/>
              </a:ext>
            </a:extLst>
          </p:cNvPr>
          <p:cNvSpPr/>
          <p:nvPr/>
        </p:nvSpPr>
        <p:spPr>
          <a:xfrm>
            <a:off x="9962437" y="2789106"/>
            <a:ext cx="247784" cy="24778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92537E2-D573-3998-A7E2-E95B70D43634}"/>
              </a:ext>
            </a:extLst>
          </p:cNvPr>
          <p:cNvSpPr/>
          <p:nvPr/>
        </p:nvSpPr>
        <p:spPr>
          <a:xfrm>
            <a:off x="9962437" y="3138332"/>
            <a:ext cx="247784" cy="247784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5E9C86D-E491-E661-1465-49BA92692CDD}"/>
              </a:ext>
            </a:extLst>
          </p:cNvPr>
          <p:cNvSpPr/>
          <p:nvPr/>
        </p:nvSpPr>
        <p:spPr>
          <a:xfrm>
            <a:off x="9846474" y="981554"/>
            <a:ext cx="2138097" cy="26236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4E41E4D-AF39-E139-0B42-6C7D69425795}"/>
              </a:ext>
            </a:extLst>
          </p:cNvPr>
          <p:cNvSpPr/>
          <p:nvPr/>
        </p:nvSpPr>
        <p:spPr>
          <a:xfrm>
            <a:off x="9846474" y="177254"/>
            <a:ext cx="2138097" cy="6594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A28B749-DE14-8D9A-59D4-85A7E06F6551}"/>
              </a:ext>
            </a:extLst>
          </p:cNvPr>
          <p:cNvSpPr/>
          <p:nvPr/>
        </p:nvSpPr>
        <p:spPr>
          <a:xfrm>
            <a:off x="9851515" y="3745048"/>
            <a:ext cx="2138097" cy="1015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63FDFF-4434-33C0-6D62-9C3443291741}"/>
              </a:ext>
            </a:extLst>
          </p:cNvPr>
          <p:cNvSpPr/>
          <p:nvPr/>
        </p:nvSpPr>
        <p:spPr>
          <a:xfrm>
            <a:off x="9850701" y="4857669"/>
            <a:ext cx="2138097" cy="562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DB51F31-B137-C29B-F5BE-D7C6B8274FD0}"/>
              </a:ext>
            </a:extLst>
          </p:cNvPr>
          <p:cNvSpPr/>
          <p:nvPr/>
        </p:nvSpPr>
        <p:spPr>
          <a:xfrm>
            <a:off x="9842075" y="5531398"/>
            <a:ext cx="2146723" cy="1196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1A0D0D-C320-BBBC-7135-93F6A72EA8E1}"/>
              </a:ext>
            </a:extLst>
          </p:cNvPr>
          <p:cNvSpPr txBox="1"/>
          <p:nvPr/>
        </p:nvSpPr>
        <p:spPr>
          <a:xfrm>
            <a:off x="10081305" y="6480993"/>
            <a:ext cx="15597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        60-80        80-100</a:t>
            </a:r>
          </a:p>
        </p:txBody>
      </p:sp>
    </p:spTree>
    <p:extLst>
      <p:ext uri="{BB962C8B-B14F-4D97-AF65-F5344CB8AC3E}">
        <p14:creationId xmlns:p14="http://schemas.microsoft.com/office/powerpoint/2010/main" val="2983058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A0EFD-DF81-9926-3052-FBC431797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S2-w9w10 Taxa-Pathway Correlation Network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3AFCC-B059-F51A-0CE1-9D9460EE73AD}"/>
              </a:ext>
            </a:extLst>
          </p:cNvPr>
          <p:cNvSpPr txBox="1"/>
          <p:nvPr/>
        </p:nvSpPr>
        <p:spPr>
          <a:xfrm>
            <a:off x="0" y="13255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Enriched in NS1-w9w10 compared to</a:t>
            </a:r>
          </a:p>
          <a:p>
            <a:r>
              <a:rPr lang="en-US" dirty="0"/>
              <a:t>S2-w9w10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7CF7B-9B39-AE0A-2FFB-F718C6A1470E}"/>
              </a:ext>
            </a:extLst>
          </p:cNvPr>
          <p:cNvSpPr txBox="1"/>
          <p:nvPr/>
        </p:nvSpPr>
        <p:spPr>
          <a:xfrm>
            <a:off x="47080" y="2054941"/>
            <a:ext cx="42705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*Each black dot in each cell represents a </a:t>
            </a:r>
          </a:p>
          <a:p>
            <a:r>
              <a:rPr lang="en-US" dirty="0"/>
              <a:t>pathway predicted to be encoded</a:t>
            </a:r>
          </a:p>
          <a:p>
            <a:r>
              <a:rPr lang="en-US" dirty="0"/>
              <a:t>by that taxon*</a:t>
            </a:r>
          </a:p>
        </p:txBody>
      </p: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40918110-EB1A-F527-C71B-B99AD0FB6A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30"/>
          <a:stretch>
            <a:fillRect/>
          </a:stretch>
        </p:blipFill>
        <p:spPr>
          <a:xfrm>
            <a:off x="4188542" y="651649"/>
            <a:ext cx="8003459" cy="620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502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8848</TotalTime>
  <Words>552</Words>
  <Application>Microsoft Macintosh PowerPoint</Application>
  <PresentationFormat>Widescreen</PresentationFormat>
  <Paragraphs>123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system-ui</vt:lpstr>
      <vt:lpstr>Office Theme</vt:lpstr>
      <vt:lpstr>T1D Data Update</vt:lpstr>
      <vt:lpstr>Action items from our previous meeting</vt:lpstr>
      <vt:lpstr>NS1 (taxa-taxa self-correlation)</vt:lpstr>
      <vt:lpstr>Complement interpretability and visualization for taxa-taxa analysis</vt:lpstr>
      <vt:lpstr>NS1 (pathway-pathway self-correlation)</vt:lpstr>
      <vt:lpstr>S2 (taxa-taxa self-correlation)</vt:lpstr>
      <vt:lpstr>S2 (pathway-pathway self-correlation)</vt:lpstr>
      <vt:lpstr>PowerPoint Presentation</vt:lpstr>
      <vt:lpstr>Taxa-Pathway Correlation Adjustment </vt:lpstr>
      <vt:lpstr>PowerPoint Presentation</vt:lpstr>
      <vt:lpstr>NS1-w9w10 Taxa-Pathway Correlation Network (previous figure)</vt:lpstr>
      <vt:lpstr>NS1 Enriched and correlated taxa-pathways (current figure)</vt:lpstr>
      <vt:lpstr>S2-w9w10 Taxa-Pathway Correlation Network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Castaneda Mogollon</dc:creator>
  <cp:lastModifiedBy>Daniel Castaneda Mogollon</cp:lastModifiedBy>
  <cp:revision>3</cp:revision>
  <dcterms:created xsi:type="dcterms:W3CDTF">2026-01-15T17:46:17Z</dcterms:created>
  <dcterms:modified xsi:type="dcterms:W3CDTF">2026-01-26T18:33:19Z</dcterms:modified>
</cp:coreProperties>
</file>