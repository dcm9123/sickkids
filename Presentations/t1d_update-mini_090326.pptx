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68"/>
    <p:restoredTop sz="94649"/>
  </p:normalViewPr>
  <p:slideViewPr>
    <p:cSldViewPr snapToGrid="0">
      <p:cViewPr>
        <p:scale>
          <a:sx n="130" d="100"/>
          <a:sy n="130" d="100"/>
        </p:scale>
        <p:origin x="14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6DDF-32AA-DCCA-B5C3-84E0F1182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9CC8A-DBF1-B32C-8CF2-6156B83AE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F1C23-F02B-D843-78E3-7CB9ACF3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EA73B-8D63-5BD3-A6DE-C8104719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51DB8-9387-652B-7992-4834C4C5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6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B5F7-6A12-906B-6A0A-2341EDA0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507AA-DB8E-286D-223E-1E1342F5E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1D474-6954-33B3-3024-66D5C959F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33DFF-4A0E-00E9-D7E5-BB6BA9C7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7C3C8-11BF-6539-5F69-7737BB18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4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8008-0EFA-46B3-B81D-6B593A48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00B03-8C33-92D5-8377-D7A7D7421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814DA-9BA7-91F1-D7BB-31A61EE7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8E7BC-7C63-6D29-E2E5-20D843A34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F2C15-9EEA-71D2-687D-FF4DCF0A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6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5AFF-890B-DF8D-AD3D-FA542B61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96886-5E4D-D883-8F87-876D5B2C2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51AFD-06A6-E077-E426-90AD786E7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1D10A-8BA0-3106-DB42-65660F25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F8880-E31A-3961-51C0-E164CD5A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08A7B-3E6A-9CFB-7D37-725EB1CC6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3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AEAA-3F0B-D2CA-6768-A40938DD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67EAF-46EC-2E9B-EBC8-6429C6996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291C8-6363-47D5-F264-6B822E260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547194-FCA5-09CE-75FC-181D3696E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CC10C-0BC6-DCBC-46CB-2BF89DE5E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675104-0ED8-7F46-F7DB-A535A124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9648F6-707A-4493-E1A2-C871745B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5ABB6-C24F-E268-EE85-1AA2DBBD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6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26D85-54C4-2FF4-15A2-A1AA15CE6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453DF-60BF-F27B-46B8-FA7FEEF07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A88474-B656-36BD-F38A-416E52240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FC2E8-2AC4-31A7-1998-6C63236A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5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BA1E9-9D66-0992-ACD1-CDF434B1B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B978D-E126-5B6F-D3D2-7BD764CB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D7C05-15D7-A07E-DED3-A418B2F5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0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AB42-4198-3B16-4DEE-6442127F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255C7-784E-64C1-924D-677F35089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9B44E-9278-73CF-D8F7-02E03DF82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2A6E4-2B38-21D9-97DB-ECB99DD0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94377-2075-F75E-D1C5-CC06D7384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E39A4-3EAB-486C-9595-E7083311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2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A50A1-DC66-35CE-85EA-946CA724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EDB77-A572-4E09-0774-1760FD901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367AD-4840-B2D6-E28F-44BF05F35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97092-F42F-F40D-7F0A-43C03E31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DE8D2-D7AA-07EA-1B18-97F718B9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7206B-5CD4-A94C-8773-3C97143D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1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B75D6-A3C7-4163-8C1C-C914FE50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E9F99-3429-1BF9-158B-DD878F50C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DAE27-F9EF-6846-B59E-3A3AE294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1B9D3-8305-2516-4077-DC1F9181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F9C0A-9A6F-A5FD-B644-2F53A229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0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82EE1C-AC7A-C54E-2C34-887A8A3377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3C624-B043-A495-2EC4-1F5574CA3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A12BA-DE9B-99F9-302A-6DBDE95E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D0923-A3FB-63D5-7D5B-EE531C4D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FEEC8-8888-835B-C6E1-3C782B54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5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7D57B6-379F-5B3A-C91E-20EFCFD5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988B3-C1AA-1191-FB33-9D6221250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38A32-BC9B-91B6-A197-DAED481EB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2A5FA-E925-D74A-A516-329F6A006CDB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756A4-DDE3-6BEF-3D02-9347BDAC1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F1A9F-DED5-8B2A-431E-3F9B00AD9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CE8E3-0168-494C-80E6-0C06E5F6E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9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C8EB-BC67-B18D-E3C1-83455D55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a filter of 175 ASV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72024-0324-C062-04D6-5C747C5D6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consortia were used as ‘true ground’</a:t>
            </a:r>
          </a:p>
          <a:p>
            <a:r>
              <a:rPr lang="en-US" dirty="0"/>
              <a:t>Rule: Any ASV which sum across all samples is 175 or less will be removed.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2C7D21-5C33-6D5F-7AFC-7C559B0DB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910209"/>
              </p:ext>
            </p:extLst>
          </p:nvPr>
        </p:nvGraphicFramePr>
        <p:xfrm>
          <a:off x="1054853" y="3429000"/>
          <a:ext cx="5915295" cy="1854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36928">
                  <a:extLst>
                    <a:ext uri="{9D8B030D-6E8A-4147-A177-3AD203B41FA5}">
                      <a16:colId xmlns:a16="http://schemas.microsoft.com/office/drawing/2014/main" val="3092528095"/>
                    </a:ext>
                  </a:extLst>
                </a:gridCol>
                <a:gridCol w="1310063">
                  <a:extLst>
                    <a:ext uri="{9D8B030D-6E8A-4147-A177-3AD203B41FA5}">
                      <a16:colId xmlns:a16="http://schemas.microsoft.com/office/drawing/2014/main" val="313341778"/>
                    </a:ext>
                  </a:extLst>
                </a:gridCol>
                <a:gridCol w="1312983">
                  <a:extLst>
                    <a:ext uri="{9D8B030D-6E8A-4147-A177-3AD203B41FA5}">
                      <a16:colId xmlns:a16="http://schemas.microsoft.com/office/drawing/2014/main" val="1860326957"/>
                    </a:ext>
                  </a:extLst>
                </a:gridCol>
                <a:gridCol w="1655321">
                  <a:extLst>
                    <a:ext uri="{9D8B030D-6E8A-4147-A177-3AD203B41FA5}">
                      <a16:colId xmlns:a16="http://schemas.microsoft.com/office/drawing/2014/main" val="1902461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Consortium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Raw 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Filtered 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Filtered 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92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405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9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45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9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435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49D64761-967F-910F-AD5B-D881C798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45"/>
          <a:stretch>
            <a:fillRect/>
          </a:stretch>
        </p:blipFill>
        <p:spPr>
          <a:xfrm>
            <a:off x="545690" y="370551"/>
            <a:ext cx="11226010" cy="6489291"/>
          </a:xfrm>
          <a:prstGeom prst="rect">
            <a:avLst/>
          </a:prstGeom>
        </p:spPr>
      </p:pic>
      <p:pic>
        <p:nvPicPr>
          <p:cNvPr id="9" name="Picture 8" descr="A screenshot of a table&#10;&#10;AI-generated content may be incorrect.">
            <a:extLst>
              <a:ext uri="{FF2B5EF4-FFF2-40B4-BE49-F238E27FC236}">
                <a16:creationId xmlns:a16="http://schemas.microsoft.com/office/drawing/2014/main" id="{35B2D386-F0FA-A31F-29A0-EE4AEA9F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431"/>
          <a:stretch>
            <a:fillRect/>
          </a:stretch>
        </p:blipFill>
        <p:spPr>
          <a:xfrm>
            <a:off x="4916" y="372394"/>
            <a:ext cx="540774" cy="6485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B0584F-8A88-64D9-12DD-ECCC19329D8C}"/>
              </a:ext>
            </a:extLst>
          </p:cNvPr>
          <p:cNvSpPr txBox="1"/>
          <p:nvPr/>
        </p:nvSpPr>
        <p:spPr>
          <a:xfrm>
            <a:off x="0" y="2141"/>
            <a:ext cx="2566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S5 Consortium example</a:t>
            </a:r>
          </a:p>
        </p:txBody>
      </p:sp>
    </p:spTree>
    <p:extLst>
      <p:ext uri="{BB962C8B-B14F-4D97-AF65-F5344CB8AC3E}">
        <p14:creationId xmlns:p14="http://schemas.microsoft.com/office/powerpoint/2010/main" val="894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69AA-20EF-45C9-42CB-EB7D4E70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72" y="0"/>
            <a:ext cx="10515600" cy="1325563"/>
          </a:xfrm>
        </p:spPr>
        <p:txBody>
          <a:bodyPr/>
          <a:lstStyle/>
          <a:p>
            <a:r>
              <a:rPr lang="en-US" dirty="0"/>
              <a:t>Testing new rule on NS1 mice</a:t>
            </a:r>
          </a:p>
        </p:txBody>
      </p:sp>
      <p:pic>
        <p:nvPicPr>
          <p:cNvPr id="6" name="Content Placeholder 5" descr="A diagram of a diagram&#10;&#10;AI-generated content may be incorrect.">
            <a:extLst>
              <a:ext uri="{FF2B5EF4-FFF2-40B4-BE49-F238E27FC236}">
                <a16:creationId xmlns:a16="http://schemas.microsoft.com/office/drawing/2014/main" id="{362EAEFC-DD61-8E0C-0582-469F5F393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8387" y="1255032"/>
            <a:ext cx="4427369" cy="478699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9BB158-754D-6308-2DB8-69DBC552A44C}"/>
              </a:ext>
            </a:extLst>
          </p:cNvPr>
          <p:cNvSpPr txBox="1">
            <a:spLocks/>
          </p:cNvSpPr>
          <p:nvPr/>
        </p:nvSpPr>
        <p:spPr>
          <a:xfrm>
            <a:off x="0" y="1017551"/>
            <a:ext cx="70298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Without filtering, there is a total of 36 unique taxa</a:t>
            </a:r>
          </a:p>
          <a:p>
            <a:r>
              <a:rPr lang="en-US" dirty="0"/>
              <a:t>Removed taxa: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B60AA5-EAB7-9820-C570-1F6FDA86CCD6}"/>
              </a:ext>
            </a:extLst>
          </p:cNvPr>
          <p:cNvSpPr txBox="1"/>
          <p:nvPr/>
        </p:nvSpPr>
        <p:spPr>
          <a:xfrm>
            <a:off x="363504" y="2416122"/>
            <a:ext cx="60977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Bacteroides_NA</a:t>
            </a:r>
            <a:endParaRPr lang="en-US" dirty="0"/>
          </a:p>
          <a:p>
            <a:r>
              <a:rPr lang="en-US" dirty="0" err="1"/>
              <a:t>Bifidobacterium_NA</a:t>
            </a:r>
            <a:endParaRPr lang="en-US" dirty="0"/>
          </a:p>
          <a:p>
            <a:r>
              <a:rPr lang="en-US" dirty="0" err="1"/>
              <a:t>Enterocloster_NA</a:t>
            </a:r>
            <a:endParaRPr lang="en-US" dirty="0"/>
          </a:p>
          <a:p>
            <a:r>
              <a:rPr lang="en-US" dirty="0" err="1"/>
              <a:t>Enterococcus_B_NA</a:t>
            </a:r>
            <a:endParaRPr lang="en-US" dirty="0"/>
          </a:p>
          <a:p>
            <a:r>
              <a:rPr lang="en-US" dirty="0" err="1"/>
              <a:t>Sutterella_NA</a:t>
            </a:r>
            <a:endParaRPr lang="en-US" dirty="0"/>
          </a:p>
          <a:p>
            <a:r>
              <a:rPr lang="en-US" dirty="0" err="1"/>
              <a:t>Phocaeicola_NA</a:t>
            </a:r>
            <a:endParaRPr lang="en-US" dirty="0"/>
          </a:p>
          <a:p>
            <a:r>
              <a:rPr lang="en-US" b="1" dirty="0" err="1"/>
              <a:t>Agathobacter_faecis</a:t>
            </a:r>
            <a:r>
              <a:rPr lang="en-US" b="1" dirty="0"/>
              <a:t> (FP)</a:t>
            </a:r>
          </a:p>
          <a:p>
            <a:r>
              <a:rPr lang="en-US" b="1" dirty="0" err="1"/>
              <a:t>Staphylococcus_hominis</a:t>
            </a:r>
            <a:r>
              <a:rPr lang="en-US" b="1" dirty="0"/>
              <a:t> (FN, total count: 21)</a:t>
            </a:r>
          </a:p>
          <a:p>
            <a:r>
              <a:rPr lang="en-US" b="1" dirty="0" err="1"/>
              <a:t>Hydrogeniiclostridium_mannosilyticum</a:t>
            </a:r>
            <a:r>
              <a:rPr lang="en-US" b="1" dirty="0"/>
              <a:t> (FP)</a:t>
            </a:r>
          </a:p>
          <a:p>
            <a:r>
              <a:rPr lang="en-US" dirty="0" err="1"/>
              <a:t>Akkermansia_NA</a:t>
            </a:r>
            <a:endParaRPr lang="en-US" dirty="0"/>
          </a:p>
          <a:p>
            <a:r>
              <a:rPr lang="en-US" b="1" dirty="0" err="1"/>
              <a:t>Hungatella_effluvia</a:t>
            </a:r>
            <a:r>
              <a:rPr lang="en-US" b="1" dirty="0"/>
              <a:t> (FN, total count: 47)</a:t>
            </a:r>
          </a:p>
          <a:p>
            <a:r>
              <a:rPr lang="en-US" b="1" dirty="0" err="1"/>
              <a:t>Akkermansia_massiliensis</a:t>
            </a:r>
            <a:r>
              <a:rPr lang="en-US" b="1" dirty="0"/>
              <a:t> (FP)</a:t>
            </a:r>
          </a:p>
          <a:p>
            <a:r>
              <a:rPr lang="en-US" b="1" dirty="0" err="1"/>
              <a:t>Bacteroides_xylanisolvens</a:t>
            </a:r>
            <a:r>
              <a:rPr lang="en-US" b="1" dirty="0"/>
              <a:t> (FP)</a:t>
            </a:r>
          </a:p>
          <a:p>
            <a:r>
              <a:rPr lang="en-US" dirty="0" err="1"/>
              <a:t>Parabacteroides_NA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3ADE2F-4338-8099-8309-D460644F5105}"/>
              </a:ext>
            </a:extLst>
          </p:cNvPr>
          <p:cNvSpPr/>
          <p:nvPr/>
        </p:nvSpPr>
        <p:spPr>
          <a:xfrm>
            <a:off x="8527088" y="3549445"/>
            <a:ext cx="393291" cy="4227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86765EB-3117-5DBA-52C6-A841926CDA06}"/>
              </a:ext>
            </a:extLst>
          </p:cNvPr>
          <p:cNvCxnSpPr>
            <a:cxnSpLocks/>
            <a:stCxn id="10" idx="2"/>
            <a:endCxn id="9" idx="3"/>
          </p:cNvCxnSpPr>
          <p:nvPr/>
        </p:nvCxnSpPr>
        <p:spPr>
          <a:xfrm rot="10800000" flipV="1">
            <a:off x="6461276" y="3760839"/>
            <a:ext cx="2065812" cy="64044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AF4724C-5BF4-AE8A-5A0B-1085575D2A2D}"/>
              </a:ext>
            </a:extLst>
          </p:cNvPr>
          <p:cNvSpPr txBox="1"/>
          <p:nvPr/>
        </p:nvSpPr>
        <p:spPr>
          <a:xfrm>
            <a:off x="1641075" y="1680403"/>
            <a:ext cx="621890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Bacteroides_stercoris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Escherichia_coli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Bacteroides_uniformis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Phocaeicola_dorei</a:t>
            </a:r>
            <a:r>
              <a:rPr lang="en-US" dirty="0">
                <a:solidFill>
                  <a:srgbClr val="FF0000"/>
                </a:solidFill>
              </a:rPr>
              <a:t> (ASV count: 337)</a:t>
            </a:r>
          </a:p>
          <a:p>
            <a:r>
              <a:rPr lang="en-US" dirty="0" err="1">
                <a:solidFill>
                  <a:srgbClr val="00B050"/>
                </a:solidFill>
              </a:rPr>
              <a:t>Eisenbergiella_tayi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Enterocloster_bolteae</a:t>
            </a:r>
            <a:r>
              <a:rPr lang="en-US" dirty="0">
                <a:solidFill>
                  <a:srgbClr val="00B050"/>
                </a:solidFill>
              </a:rPr>
              <a:t>/</a:t>
            </a:r>
            <a:r>
              <a:rPr lang="en-US" dirty="0" err="1">
                <a:solidFill>
                  <a:srgbClr val="00B050"/>
                </a:solidFill>
              </a:rPr>
              <a:t>clostridioformis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Parabacteroides_merdae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Enterocloster_citroniae</a:t>
            </a:r>
            <a:r>
              <a:rPr lang="en-US" dirty="0">
                <a:solidFill>
                  <a:srgbClr val="00B050"/>
                </a:solidFill>
              </a:rPr>
              <a:t>/</a:t>
            </a:r>
            <a:r>
              <a:rPr lang="en-US" dirty="0" err="1">
                <a:solidFill>
                  <a:srgbClr val="00B050"/>
                </a:solidFill>
              </a:rPr>
              <a:t>bolteae</a:t>
            </a:r>
            <a:r>
              <a:rPr lang="en-US" dirty="0">
                <a:solidFill>
                  <a:srgbClr val="00B050"/>
                </a:solidFill>
              </a:rPr>
              <a:t>/</a:t>
            </a:r>
            <a:r>
              <a:rPr lang="en-US" dirty="0" err="1">
                <a:solidFill>
                  <a:srgbClr val="00B050"/>
                </a:solidFill>
              </a:rPr>
              <a:t>clostridioformis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Enterocloster_citroniae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Akkermansia_muciniphila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Alistipes_onderdonkii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Sarcina_perfringens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Collinsella_sp902362275/sp902472315</a:t>
            </a:r>
          </a:p>
          <a:p>
            <a:r>
              <a:rPr lang="en-US" dirty="0" err="1">
                <a:solidFill>
                  <a:srgbClr val="00B050"/>
                </a:solidFill>
              </a:rPr>
              <a:t>Alistipes_finegoldii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Bifidobacterium_longum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Enterococcus_B_durans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Flavonifractor_plautii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7" name="Connector 16">
            <a:extLst>
              <a:ext uri="{FF2B5EF4-FFF2-40B4-BE49-F238E27FC236}">
                <a16:creationId xmlns:a16="http://schemas.microsoft.com/office/drawing/2014/main" id="{4E9F0CEB-4EE7-4575-4A6E-DF955F0DCF02}"/>
              </a:ext>
            </a:extLst>
          </p:cNvPr>
          <p:cNvSpPr/>
          <p:nvPr/>
        </p:nvSpPr>
        <p:spPr>
          <a:xfrm>
            <a:off x="9163665" y="2487561"/>
            <a:ext cx="422787" cy="422787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D8E9AB8-D064-5C10-E0F2-9FE45F87B56E}"/>
              </a:ext>
            </a:extLst>
          </p:cNvPr>
          <p:cNvCxnSpPr>
            <a:stCxn id="17" idx="2"/>
          </p:cNvCxnSpPr>
          <p:nvPr/>
        </p:nvCxnSpPr>
        <p:spPr>
          <a:xfrm rot="10800000">
            <a:off x="5663381" y="2698955"/>
            <a:ext cx="3500284" cy="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ACF767B-5B3F-6067-50AE-65587571EF66}"/>
              </a:ext>
            </a:extLst>
          </p:cNvPr>
          <p:cNvSpPr txBox="1"/>
          <p:nvPr/>
        </p:nvSpPr>
        <p:spPr>
          <a:xfrm>
            <a:off x="2986549" y="3208989"/>
            <a:ext cx="62189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Parabacteroides_distasonis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Phocaeicola_vulgatus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Eggerthella_lenta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Sutterella_wadsworthensis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Bacteroides_thetaiotaomicron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89DE2736-7EDC-CDA1-A389-9905BA4D2B18}"/>
              </a:ext>
            </a:extLst>
          </p:cNvPr>
          <p:cNvSpPr/>
          <p:nvPr/>
        </p:nvSpPr>
        <p:spPr>
          <a:xfrm>
            <a:off x="9153832" y="3164173"/>
            <a:ext cx="432620" cy="43262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9B785D-02BE-79EE-3CD7-8479DC024DFB}"/>
              </a:ext>
            </a:extLst>
          </p:cNvPr>
          <p:cNvCxnSpPr>
            <a:stCxn id="22" idx="2"/>
          </p:cNvCxnSpPr>
          <p:nvPr/>
        </p:nvCxnSpPr>
        <p:spPr>
          <a:xfrm flipH="1">
            <a:off x="7029893" y="3380483"/>
            <a:ext cx="212393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61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4" grpId="0"/>
      <p:bldP spid="14" grpId="1"/>
      <p:bldP spid="17" grpId="0" animBg="1"/>
      <p:bldP spid="17" grpId="1" animBg="1"/>
      <p:bldP spid="21" grpId="0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112A-5CB0-F7A5-9891-960E538E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PICRUSt2 hidden state 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9F4BC-EBD6-0EF0-DB37-FE78C06942B1}"/>
              </a:ext>
            </a:extLst>
          </p:cNvPr>
          <p:cNvSpPr txBox="1"/>
          <p:nvPr/>
        </p:nvSpPr>
        <p:spPr>
          <a:xfrm>
            <a:off x="0" y="1340311"/>
            <a:ext cx="28259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Input:</a:t>
            </a:r>
            <a:endParaRPr lang="en-US" dirty="0"/>
          </a:p>
          <a:p>
            <a:r>
              <a:rPr lang="en-US" dirty="0"/>
              <a:t>ASV count table</a:t>
            </a:r>
          </a:p>
          <a:p>
            <a:r>
              <a:rPr lang="en-US" dirty="0"/>
              <a:t>EC annotation per genome</a:t>
            </a:r>
          </a:p>
          <a:p>
            <a:r>
              <a:rPr lang="en-US" dirty="0"/>
              <a:t>16S CNV</a:t>
            </a:r>
          </a:p>
          <a:p>
            <a:r>
              <a:rPr lang="en-US" dirty="0"/>
              <a:t>16S reference tree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EB79B6-3396-F03E-39E7-CFC3FB68F2AB}"/>
                  </a:ext>
                </a:extLst>
              </p:cNvPr>
              <p:cNvSpPr txBox="1"/>
              <p:nvPr/>
            </p:nvSpPr>
            <p:spPr>
              <a:xfrm>
                <a:off x="3472269" y="1607574"/>
                <a:ext cx="5247462" cy="567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𝑁𝑜𝑟𝑚𝑎𝑙𝑖𝑧𝑒𝑑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𝐴𝑆𝑉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𝐴𝑆𝑉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𝑐𝑜𝑢𝑛𝑡𝑠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𝑐𝑜𝑝𝑦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EB79B6-3396-F03E-39E7-CFC3FB68F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269" y="1607574"/>
                <a:ext cx="5247462" cy="567720"/>
              </a:xfrm>
              <a:prstGeom prst="rect">
                <a:avLst/>
              </a:prstGeom>
              <a:blipFill>
                <a:blip r:embed="rId2"/>
                <a:stretch>
                  <a:fillRect t="-8696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A094C5-EDF8-8C5C-3973-589952838A32}"/>
                  </a:ext>
                </a:extLst>
              </p:cNvPr>
              <p:cNvSpPr txBox="1"/>
              <p:nvPr/>
            </p:nvSpPr>
            <p:spPr>
              <a:xfrm>
                <a:off x="3472269" y="2649277"/>
                <a:ext cx="7899085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𝐸𝐶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𝑐𝑜𝑛𝑡𝑟𝑖𝑏𝑢𝑡𝑖𝑜𝑛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𝑁𝑜𝑟𝑚𝑎𝑙𝑖𝑧𝑒𝑑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𝐴𝑆𝑉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𝑎𝑏𝑢𝑛𝑑𝑎𝑛𝑐𝑒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𝑝𝑟𝑒𝑑𝑖𝑐𝑡𝑒𝑑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𝐸𝐶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𝑐𝑜𝑝𝑖𝑒𝑠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A094C5-EDF8-8C5C-3973-589952838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269" y="2649277"/>
                <a:ext cx="7899085" cy="289182"/>
              </a:xfrm>
              <a:prstGeom prst="rect">
                <a:avLst/>
              </a:prstGeom>
              <a:blipFill>
                <a:blip r:embed="rId3"/>
                <a:stretch>
                  <a:fillRect l="-482" t="-8333" r="-80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6CC6600-A32C-B24E-B46B-D9ACAFAAF201}"/>
              </a:ext>
            </a:extLst>
          </p:cNvPr>
          <p:cNvSpPr txBox="1"/>
          <p:nvPr/>
        </p:nvSpPr>
        <p:spPr>
          <a:xfrm>
            <a:off x="452283" y="5948516"/>
            <a:ext cx="1069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ASVs mapping to the same species </a:t>
            </a:r>
            <a:r>
              <a:rPr lang="en-US" b="1" dirty="0"/>
              <a:t>can contribute differently </a:t>
            </a:r>
            <a:r>
              <a:rPr lang="en-US" dirty="0"/>
              <a:t>in EC abundances, and thus, pathways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A2B9F-CF6A-51E0-1579-2F5FE80EB84C}"/>
              </a:ext>
            </a:extLst>
          </p:cNvPr>
          <p:cNvSpPr txBox="1"/>
          <p:nvPr/>
        </p:nvSpPr>
        <p:spPr>
          <a:xfrm>
            <a:off x="1912753" y="3291622"/>
            <a:ext cx="85055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each pathway ‘p’, PICRUSt2 knows the EC set through a parsimonious approach:</a:t>
            </a:r>
          </a:p>
          <a:p>
            <a:endParaRPr lang="en-US" dirty="0"/>
          </a:p>
          <a:p>
            <a:r>
              <a:rPr lang="en-US" dirty="0"/>
              <a:t>Pathway A = EC1, EC2, EC4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6F141-19DE-0A4D-E615-EF96568281D5}"/>
              </a:ext>
            </a:extLst>
          </p:cNvPr>
          <p:cNvSpPr txBox="1"/>
          <p:nvPr/>
        </p:nvSpPr>
        <p:spPr>
          <a:xfrm>
            <a:off x="1912753" y="4672023"/>
            <a:ext cx="932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Determine which ASVs have those ECs that make the pathway, then predict ASV contribution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4F5D74-D458-0FE7-59F7-13F4C821A562}"/>
              </a:ext>
            </a:extLst>
          </p:cNvPr>
          <p:cNvCxnSpPr>
            <a:stCxn id="11" idx="2"/>
          </p:cNvCxnSpPr>
          <p:nvPr/>
        </p:nvCxnSpPr>
        <p:spPr>
          <a:xfrm>
            <a:off x="6574478" y="5041355"/>
            <a:ext cx="22967" cy="700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65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7EC1-C72E-630A-0961-4F67A08C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P. </a:t>
            </a:r>
            <a:r>
              <a:rPr lang="en-US" i="1" dirty="0" err="1"/>
              <a:t>distasonis</a:t>
            </a:r>
            <a:r>
              <a:rPr lang="en-US" i="1" dirty="0"/>
              <a:t> </a:t>
            </a:r>
            <a:r>
              <a:rPr lang="en-US" dirty="0"/>
              <a:t>example</a:t>
            </a:r>
            <a:endParaRPr lang="en-US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7B33E1-8E1C-823B-7D38-DEE7AED80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3116389"/>
              </p:ext>
            </p:extLst>
          </p:nvPr>
        </p:nvGraphicFramePr>
        <p:xfrm>
          <a:off x="838200" y="1951311"/>
          <a:ext cx="11110453" cy="1224016"/>
        </p:xfrm>
        <a:graphic>
          <a:graphicData uri="http://schemas.openxmlformats.org/drawingml/2006/table">
            <a:tbl>
              <a:tblPr/>
              <a:tblGrid>
                <a:gridCol w="2005362">
                  <a:extLst>
                    <a:ext uri="{9D8B030D-6E8A-4147-A177-3AD203B41FA5}">
                      <a16:colId xmlns:a16="http://schemas.microsoft.com/office/drawing/2014/main" val="1259408188"/>
                    </a:ext>
                  </a:extLst>
                </a:gridCol>
                <a:gridCol w="3008724">
                  <a:extLst>
                    <a:ext uri="{9D8B030D-6E8A-4147-A177-3AD203B41FA5}">
                      <a16:colId xmlns:a16="http://schemas.microsoft.com/office/drawing/2014/main" val="755747283"/>
                    </a:ext>
                  </a:extLst>
                </a:gridCol>
                <a:gridCol w="1966818">
                  <a:extLst>
                    <a:ext uri="{9D8B030D-6E8A-4147-A177-3AD203B41FA5}">
                      <a16:colId xmlns:a16="http://schemas.microsoft.com/office/drawing/2014/main" val="2010737775"/>
                    </a:ext>
                  </a:extLst>
                </a:gridCol>
                <a:gridCol w="580104">
                  <a:extLst>
                    <a:ext uri="{9D8B030D-6E8A-4147-A177-3AD203B41FA5}">
                      <a16:colId xmlns:a16="http://schemas.microsoft.com/office/drawing/2014/main" val="1233843456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val="668800359"/>
                    </a:ext>
                  </a:extLst>
                </a:gridCol>
                <a:gridCol w="688258">
                  <a:extLst>
                    <a:ext uri="{9D8B030D-6E8A-4147-A177-3AD203B41FA5}">
                      <a16:colId xmlns:a16="http://schemas.microsoft.com/office/drawing/2014/main" val="3097633802"/>
                    </a:ext>
                  </a:extLst>
                </a:gridCol>
                <a:gridCol w="884903">
                  <a:extLst>
                    <a:ext uri="{9D8B030D-6E8A-4147-A177-3AD203B41FA5}">
                      <a16:colId xmlns:a16="http://schemas.microsoft.com/office/drawing/2014/main" val="1656370130"/>
                    </a:ext>
                  </a:extLst>
                </a:gridCol>
                <a:gridCol w="1229033">
                  <a:extLst>
                    <a:ext uri="{9D8B030D-6E8A-4147-A177-3AD203B41FA5}">
                      <a16:colId xmlns:a16="http://schemas.microsoft.com/office/drawing/2014/main" val="2597995327"/>
                    </a:ext>
                  </a:extLst>
                </a:gridCol>
              </a:tblGrid>
              <a:tr h="3021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ANAGLYCOLYSIS-PWY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GAGGAATATTGGTCAATGGGCGTAAGCCTGAACCAGCCAAGTCGCGTGAGGGATGAAGGTTCTATGGATCGTAAACCTCCTTTATAAGGGAATAAAGTGCGGGACGTGTCCCGTTTTGTATGTACCTTATGAATAAGGATCGGCTAACTCCGTGCCAGCAGCCGCGGTAATACGGAGGATCCGAGCGTTATCCGGATTTATTGGGTTTAAAGGGTGCGTAGGCGGCCTTTTAAGTCAGCGGTGAAAGTCTGTGGCTCAACCATAGAATTGCCGTTGAAACTGGGGGGCTTGAGTATGTTTGAGGCAGGCGGAATGCGTGGTGTAGCGGTGAAATGCTTAGATATCACGCAGAACCCCGATTGCGAAGGCAGCCTGCCAAGCCATGACTGACGCTGATGCACGAAAGCGTGGGGATCAAACA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Parabacteroides </a:t>
                      </a:r>
                      <a:r>
                        <a:rPr lang="en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distasonis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785577"/>
                  </a:ext>
                </a:extLst>
              </a:tr>
              <a:tr h="3021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ANAGLYCOLYSIS-PWY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GAGGAATATTGGTCAATGGGCGTAAGCCTGAACCAGCCAAGTCGCGTGAGGGATGAAGGTTCTATGGATCGTAAACCTCTTTTATAAGGGAATAAAGTGCGGGACGAGTCCTATTTTGTATGTACCTTATGAATAAGGATCGGCTAACTCCGTGCCAGCAGCCGCGGTAATACGGAGGATCCGAGCGTTATCCGGATTTATTGGGTTTAAAGGGTGCGTAGGCGGCCTTTTAAGTCAGCGGTGAAAGTCTGTGGCTCAACCATAGAATTGCCGTTGAAACTGGGGGGCTTGAGTATGTTTGAGGCAGGCGGAATGCGTGGTGTAGCGGTGAAATGCTTAGATATCACGCAGAACCCCGATTGCGAAGGCAGCCTGCCAAGCCATGACTGACGCTGATGCACGAAAGCGTGGGGATCAAACA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Parabacteroides </a:t>
                      </a:r>
                      <a:r>
                        <a:rPr lang="en-CA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distasonis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527156"/>
                  </a:ext>
                </a:extLst>
              </a:tr>
              <a:tr h="3021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ANAGLYCOLYSIS-PWY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GAGGAATATTGGTCAATGGGCGTAAGCCTGAACCAGCCAAGTCGCGTGAGGGATGAAGGTTCTATGGATCGTAAACCTCTTTTATAAGGGAATAAAGTGCGGGACGTGTCCCGTTTTGTATGTACCTTATGAATAAGGATCGGCTAACTCCGTGCCAGCAGCCGCGGTAATACGGAGGATCCGAGCGTTATCCGGATTTATTGGGTTTAAAGGGTGCGTAGGCGGCCTTTTAAGTCAGCGGTGAAAGTCTGTGGCTCAACCATAGAATTGCCGTTGAAACTGGGGGGCTTGAGTATGTTTGAGGCAGGCGGAATGCGTGGTGTAGCGGTGAAATGCTTAGATATCACGCAGAACCCCGATTGCGAAGGCAGCCTGCCAAGCCATGACTGACGCTGATGCACGAAAGCGTGGGGATCAAACA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Parabacteroides distasonis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301.38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203.30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209.90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310.28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290.46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642398"/>
                  </a:ext>
                </a:extLst>
              </a:tr>
              <a:tr h="3021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ANAGLYCOLYSIS-PWY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GAGGAATATTGGTCAATGGGCGTAAGCCTGAACCAGCCAAGTCGCGTGAGGGATGAAGGTTCTATGGATCGTAAACCTCTTTTATAAGGGAATAAAGTGCGGGACGTGTCCTGTTTTGTATGTACCTTATGAATAAGGATCGGCTAACTCCGTGCCAGCAGCCGCGGTAATACGGAGGATCCGAGCGTTATCCGGATTTATTGGGTTTAAAGGGTGCGTAGGCGGCCTTTTAAGTCAGCGGTGAAAGTCTGTGGCTCAACCATAGAATTGCCGTTGAAACTGGGGGGCTTGAGTATGTTTGAGGCAGGCGGAATGCGTGGTGTAGCGGTGAAATGCTTAGATATCACGCAGAACCCCGATTGCGAAGGCAGCCTGCCAAGCCATGACTGACGCTGATGCACGAAAGCGTGGGGATCAAACA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Parabacteroides distasonis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114.36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96.57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79.03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118.16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102.92</a:t>
                      </a:r>
                    </a:p>
                  </a:txBody>
                  <a:tcPr marL="1204" marR="1204" marT="120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8035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901984-8DEF-DA2C-737F-06B9DB003FEE}"/>
              </a:ext>
            </a:extLst>
          </p:cNvPr>
          <p:cNvSpPr txBox="1"/>
          <p:nvPr/>
        </p:nvSpPr>
        <p:spPr>
          <a:xfrm>
            <a:off x="914400" y="3682674"/>
            <a:ext cx="42339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ASV1: 2 samples, ASV count of 60 and 73</a:t>
            </a:r>
          </a:p>
          <a:p>
            <a:r>
              <a:rPr lang="en-US" dirty="0"/>
              <a:t>ASV2: 1 sample, ASV count of 14</a:t>
            </a:r>
          </a:p>
          <a:p>
            <a:r>
              <a:rPr lang="en-US" dirty="0"/>
              <a:t>ASV3: All samples, average ASV ~1000</a:t>
            </a:r>
          </a:p>
          <a:p>
            <a:r>
              <a:rPr lang="en-US" dirty="0"/>
              <a:t>ASV4: All samples, average ASV ~450</a:t>
            </a:r>
          </a:p>
        </p:txBody>
      </p:sp>
    </p:spTree>
    <p:extLst>
      <p:ext uri="{BB962C8B-B14F-4D97-AF65-F5344CB8AC3E}">
        <p14:creationId xmlns:p14="http://schemas.microsoft.com/office/powerpoint/2010/main" val="153117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8883-9D3D-EB4B-DE9C-C7C06DD3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87181" cy="1325563"/>
          </a:xfrm>
        </p:spPr>
        <p:txBody>
          <a:bodyPr/>
          <a:lstStyle/>
          <a:p>
            <a:r>
              <a:rPr lang="en-US" dirty="0"/>
              <a:t>EPA-ng and Gappa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68580D-FF3F-5700-A5C9-F8E36727E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3239" y="0"/>
            <a:ext cx="866876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DD808-7DE4-DBCE-B73E-E67CA0506AA9}"/>
              </a:ext>
            </a:extLst>
          </p:cNvPr>
          <p:cNvSpPr txBox="1"/>
          <p:nvPr/>
        </p:nvSpPr>
        <p:spPr>
          <a:xfrm>
            <a:off x="0" y="1563329"/>
            <a:ext cx="34511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LWR: </a:t>
            </a:r>
            <a:r>
              <a:rPr lang="en-US" dirty="0"/>
              <a:t>Likelihood weight that was assigned to this taxonomic path</a:t>
            </a:r>
          </a:p>
          <a:p>
            <a:endParaRPr lang="en-US" dirty="0"/>
          </a:p>
          <a:p>
            <a:r>
              <a:rPr lang="en-US" b="1" u="sng" dirty="0" err="1"/>
              <a:t>Fract</a:t>
            </a:r>
            <a:r>
              <a:rPr lang="en-US" b="1" u="sng" dirty="0"/>
              <a:t>: </a:t>
            </a:r>
            <a:r>
              <a:rPr lang="en-US" dirty="0"/>
              <a:t>LWR divided by the global total likelihood weight</a:t>
            </a:r>
          </a:p>
          <a:p>
            <a:endParaRPr lang="en-US" b="1" u="sng" dirty="0"/>
          </a:p>
          <a:p>
            <a:r>
              <a:rPr lang="en-US" b="1" u="sng" dirty="0" err="1"/>
              <a:t>aLWR</a:t>
            </a:r>
            <a:r>
              <a:rPr lang="en-US" b="1" u="sng" dirty="0"/>
              <a:t>: </a:t>
            </a:r>
            <a:r>
              <a:rPr lang="en-US" dirty="0"/>
              <a:t>Accumulated likelihood weight by taxonomic ranks (not currently in use for our project)</a:t>
            </a:r>
          </a:p>
          <a:p>
            <a:endParaRPr lang="en-US" b="1" u="sng" dirty="0"/>
          </a:p>
          <a:p>
            <a:endParaRPr lang="en-US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1E9D42-E244-133E-9A5E-B49F5857A54F}"/>
              </a:ext>
            </a:extLst>
          </p:cNvPr>
          <p:cNvSpPr txBox="1"/>
          <p:nvPr/>
        </p:nvSpPr>
        <p:spPr>
          <a:xfrm>
            <a:off x="-1" y="4104674"/>
            <a:ext cx="34511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LWR is calculated by determining the probability of the aligned sequence given a particular branch of the tree. This is repeated across all candidate placements</a:t>
            </a:r>
          </a:p>
          <a:p>
            <a:endParaRPr lang="en-US" dirty="0"/>
          </a:p>
          <a:p>
            <a:r>
              <a:rPr lang="en-US" dirty="0"/>
              <a:t>LWR ~ 1, almost all likelihood mass supports that single branch for that query sequence</a:t>
            </a:r>
          </a:p>
        </p:txBody>
      </p:sp>
    </p:spTree>
    <p:extLst>
      <p:ext uri="{BB962C8B-B14F-4D97-AF65-F5344CB8AC3E}">
        <p14:creationId xmlns:p14="http://schemas.microsoft.com/office/powerpoint/2010/main" val="257382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485</Words>
  <Application>Microsoft Macintosh PowerPoint</Application>
  <PresentationFormat>Widescreen</PresentationFormat>
  <Paragraphs>122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Cambria Math</vt:lpstr>
      <vt:lpstr>Office Theme</vt:lpstr>
      <vt:lpstr>Applying a filter of 175 ASV count</vt:lpstr>
      <vt:lpstr>PowerPoint Presentation</vt:lpstr>
      <vt:lpstr>Testing new rule on NS1 mice</vt:lpstr>
      <vt:lpstr>PICRUSt2 hidden state prediction</vt:lpstr>
      <vt:lpstr>P. distasonis example</vt:lpstr>
      <vt:lpstr>EPA-ng and Gappa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Castaneda Mogollon</dc:creator>
  <cp:lastModifiedBy>Daniel Castaneda Mogollon</cp:lastModifiedBy>
  <cp:revision>5</cp:revision>
  <dcterms:created xsi:type="dcterms:W3CDTF">2026-03-10T02:34:19Z</dcterms:created>
  <dcterms:modified xsi:type="dcterms:W3CDTF">2026-03-10T20:15:16Z</dcterms:modified>
</cp:coreProperties>
</file>