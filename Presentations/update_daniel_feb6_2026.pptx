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62" r:id="rId3"/>
    <p:sldId id="260" r:id="rId4"/>
    <p:sldId id="259" r:id="rId5"/>
    <p:sldId id="261" r:id="rId6"/>
    <p:sldId id="258" r:id="rId7"/>
    <p:sldId id="265"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2808"/>
  </p:normalViewPr>
  <p:slideViewPr>
    <p:cSldViewPr snapToGrid="0">
      <p:cViewPr varScale="1">
        <p:scale>
          <a:sx n="104" d="100"/>
          <a:sy n="104" d="100"/>
        </p:scale>
        <p:origin x="232" y="4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1100B-8250-E60B-33C2-407EAC74B4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92A889D-BD53-CA28-DB43-152D96220A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70F071-C4BF-88DF-CBAC-1D599F5EF434}"/>
              </a:ext>
            </a:extLst>
          </p:cNvPr>
          <p:cNvSpPr>
            <a:spLocks noGrp="1"/>
          </p:cNvSpPr>
          <p:nvPr>
            <p:ph type="dt" sz="half" idx="10"/>
          </p:nvPr>
        </p:nvSpPr>
        <p:spPr/>
        <p:txBody>
          <a:bodyPr/>
          <a:lstStyle/>
          <a:p>
            <a:fld id="{9783FBE6-1ACA-3E45-8AE7-65AC31A9107D}" type="datetimeFigureOut">
              <a:rPr lang="en-US" smtClean="0"/>
              <a:t>2/20/26</a:t>
            </a:fld>
            <a:endParaRPr lang="en-US"/>
          </a:p>
        </p:txBody>
      </p:sp>
      <p:sp>
        <p:nvSpPr>
          <p:cNvPr id="5" name="Footer Placeholder 4">
            <a:extLst>
              <a:ext uri="{FF2B5EF4-FFF2-40B4-BE49-F238E27FC236}">
                <a16:creationId xmlns:a16="http://schemas.microsoft.com/office/drawing/2014/main" id="{EA1E491B-F58C-9958-62D9-543A4A21B8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B841FD-3B74-F3C4-AFDA-EC2D0FA27B8B}"/>
              </a:ext>
            </a:extLst>
          </p:cNvPr>
          <p:cNvSpPr>
            <a:spLocks noGrp="1"/>
          </p:cNvSpPr>
          <p:nvPr>
            <p:ph type="sldNum" sz="quarter" idx="12"/>
          </p:nvPr>
        </p:nvSpPr>
        <p:spPr/>
        <p:txBody>
          <a:bodyPr/>
          <a:lstStyle/>
          <a:p>
            <a:fld id="{DCCCF3D2-9ECE-0648-8A3C-991CD8DD5412}" type="slidenum">
              <a:rPr lang="en-US" smtClean="0"/>
              <a:t>‹#›</a:t>
            </a:fld>
            <a:endParaRPr lang="en-US"/>
          </a:p>
        </p:txBody>
      </p:sp>
    </p:spTree>
    <p:extLst>
      <p:ext uri="{BB962C8B-B14F-4D97-AF65-F5344CB8AC3E}">
        <p14:creationId xmlns:p14="http://schemas.microsoft.com/office/powerpoint/2010/main" val="3055095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0F10-DA30-B844-8935-C5A211C1E1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8291BB-3383-0DB6-170C-55B83419F3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29AD95-4A85-367F-A63C-7AC89ACD8308}"/>
              </a:ext>
            </a:extLst>
          </p:cNvPr>
          <p:cNvSpPr>
            <a:spLocks noGrp="1"/>
          </p:cNvSpPr>
          <p:nvPr>
            <p:ph type="dt" sz="half" idx="10"/>
          </p:nvPr>
        </p:nvSpPr>
        <p:spPr/>
        <p:txBody>
          <a:bodyPr/>
          <a:lstStyle/>
          <a:p>
            <a:fld id="{9783FBE6-1ACA-3E45-8AE7-65AC31A9107D}" type="datetimeFigureOut">
              <a:rPr lang="en-US" smtClean="0"/>
              <a:t>2/20/26</a:t>
            </a:fld>
            <a:endParaRPr lang="en-US"/>
          </a:p>
        </p:txBody>
      </p:sp>
      <p:sp>
        <p:nvSpPr>
          <p:cNvPr id="5" name="Footer Placeholder 4">
            <a:extLst>
              <a:ext uri="{FF2B5EF4-FFF2-40B4-BE49-F238E27FC236}">
                <a16:creationId xmlns:a16="http://schemas.microsoft.com/office/drawing/2014/main" id="{6E64AAA0-3043-21AD-1206-B98E556A63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0310E3-6AF9-8C3B-90E0-B0ABB1A81520}"/>
              </a:ext>
            </a:extLst>
          </p:cNvPr>
          <p:cNvSpPr>
            <a:spLocks noGrp="1"/>
          </p:cNvSpPr>
          <p:nvPr>
            <p:ph type="sldNum" sz="quarter" idx="12"/>
          </p:nvPr>
        </p:nvSpPr>
        <p:spPr/>
        <p:txBody>
          <a:bodyPr/>
          <a:lstStyle/>
          <a:p>
            <a:fld id="{DCCCF3D2-9ECE-0648-8A3C-991CD8DD5412}" type="slidenum">
              <a:rPr lang="en-US" smtClean="0"/>
              <a:t>‹#›</a:t>
            </a:fld>
            <a:endParaRPr lang="en-US"/>
          </a:p>
        </p:txBody>
      </p:sp>
    </p:spTree>
    <p:extLst>
      <p:ext uri="{BB962C8B-B14F-4D97-AF65-F5344CB8AC3E}">
        <p14:creationId xmlns:p14="http://schemas.microsoft.com/office/powerpoint/2010/main" val="42602344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F804D-A9E0-1A4A-D829-AFD88CB959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5D862DC-A76B-B7C1-DC4A-A776D1AF257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ACE121-E0F6-BAEE-CC88-ABBE888EC252}"/>
              </a:ext>
            </a:extLst>
          </p:cNvPr>
          <p:cNvSpPr>
            <a:spLocks noGrp="1"/>
          </p:cNvSpPr>
          <p:nvPr>
            <p:ph type="dt" sz="half" idx="10"/>
          </p:nvPr>
        </p:nvSpPr>
        <p:spPr/>
        <p:txBody>
          <a:bodyPr/>
          <a:lstStyle/>
          <a:p>
            <a:fld id="{9783FBE6-1ACA-3E45-8AE7-65AC31A9107D}" type="datetimeFigureOut">
              <a:rPr lang="en-US" smtClean="0"/>
              <a:t>2/20/26</a:t>
            </a:fld>
            <a:endParaRPr lang="en-US"/>
          </a:p>
        </p:txBody>
      </p:sp>
      <p:sp>
        <p:nvSpPr>
          <p:cNvPr id="5" name="Footer Placeholder 4">
            <a:extLst>
              <a:ext uri="{FF2B5EF4-FFF2-40B4-BE49-F238E27FC236}">
                <a16:creationId xmlns:a16="http://schemas.microsoft.com/office/drawing/2014/main" id="{751B9DBE-879A-E0A7-E518-92B76C4D36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77950C-7739-42C9-E13F-4B492A422A59}"/>
              </a:ext>
            </a:extLst>
          </p:cNvPr>
          <p:cNvSpPr>
            <a:spLocks noGrp="1"/>
          </p:cNvSpPr>
          <p:nvPr>
            <p:ph type="sldNum" sz="quarter" idx="12"/>
          </p:nvPr>
        </p:nvSpPr>
        <p:spPr/>
        <p:txBody>
          <a:bodyPr/>
          <a:lstStyle/>
          <a:p>
            <a:fld id="{DCCCF3D2-9ECE-0648-8A3C-991CD8DD5412}" type="slidenum">
              <a:rPr lang="en-US" smtClean="0"/>
              <a:t>‹#›</a:t>
            </a:fld>
            <a:endParaRPr lang="en-US"/>
          </a:p>
        </p:txBody>
      </p:sp>
    </p:spTree>
    <p:extLst>
      <p:ext uri="{BB962C8B-B14F-4D97-AF65-F5344CB8AC3E}">
        <p14:creationId xmlns:p14="http://schemas.microsoft.com/office/powerpoint/2010/main" val="2980595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18793-C904-1FCC-8266-B123F05B42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198E0C-6BF1-759B-89ED-D9E580B27F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3A3FBE2-F6E0-F013-F478-D6086EC53E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9B41D0C-678D-B060-F4CD-C3D281D7AB9E}"/>
              </a:ext>
            </a:extLst>
          </p:cNvPr>
          <p:cNvSpPr>
            <a:spLocks noGrp="1"/>
          </p:cNvSpPr>
          <p:nvPr>
            <p:ph type="dt" sz="half" idx="10"/>
          </p:nvPr>
        </p:nvSpPr>
        <p:spPr/>
        <p:txBody>
          <a:bodyPr/>
          <a:lstStyle/>
          <a:p>
            <a:fld id="{9783FBE6-1ACA-3E45-8AE7-65AC31A9107D}" type="datetimeFigureOut">
              <a:rPr lang="en-US" smtClean="0"/>
              <a:t>2/20/26</a:t>
            </a:fld>
            <a:endParaRPr lang="en-US"/>
          </a:p>
        </p:txBody>
      </p:sp>
      <p:sp>
        <p:nvSpPr>
          <p:cNvPr id="6" name="Footer Placeholder 5">
            <a:extLst>
              <a:ext uri="{FF2B5EF4-FFF2-40B4-BE49-F238E27FC236}">
                <a16:creationId xmlns:a16="http://schemas.microsoft.com/office/drawing/2014/main" id="{E995B45D-BF1B-4078-8641-2F80311499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CE2E7F-F4D0-AB96-65BF-A0760179307D}"/>
              </a:ext>
            </a:extLst>
          </p:cNvPr>
          <p:cNvSpPr>
            <a:spLocks noGrp="1"/>
          </p:cNvSpPr>
          <p:nvPr>
            <p:ph type="sldNum" sz="quarter" idx="12"/>
          </p:nvPr>
        </p:nvSpPr>
        <p:spPr/>
        <p:txBody>
          <a:bodyPr/>
          <a:lstStyle/>
          <a:p>
            <a:fld id="{DCCCF3D2-9ECE-0648-8A3C-991CD8DD5412}" type="slidenum">
              <a:rPr lang="en-US" smtClean="0"/>
              <a:t>‹#›</a:t>
            </a:fld>
            <a:endParaRPr lang="en-US"/>
          </a:p>
        </p:txBody>
      </p:sp>
    </p:spTree>
    <p:extLst>
      <p:ext uri="{BB962C8B-B14F-4D97-AF65-F5344CB8AC3E}">
        <p14:creationId xmlns:p14="http://schemas.microsoft.com/office/powerpoint/2010/main" val="2549569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7A503-A49D-EFA3-A319-64BDED54ECD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BA54BB-9C3C-64AA-8944-8444A0E721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AF636B-4B6D-1D22-4BED-44D33E364F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4D9BB9D-C002-8522-1CF5-3681278F1E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8043EC-EBF8-912B-E46E-6083927887C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4EC132E-DD5F-C11F-9208-CF219831B19F}"/>
              </a:ext>
            </a:extLst>
          </p:cNvPr>
          <p:cNvSpPr>
            <a:spLocks noGrp="1"/>
          </p:cNvSpPr>
          <p:nvPr>
            <p:ph type="dt" sz="half" idx="10"/>
          </p:nvPr>
        </p:nvSpPr>
        <p:spPr/>
        <p:txBody>
          <a:bodyPr/>
          <a:lstStyle/>
          <a:p>
            <a:fld id="{9783FBE6-1ACA-3E45-8AE7-65AC31A9107D}" type="datetimeFigureOut">
              <a:rPr lang="en-US" smtClean="0"/>
              <a:t>2/20/26</a:t>
            </a:fld>
            <a:endParaRPr lang="en-US"/>
          </a:p>
        </p:txBody>
      </p:sp>
      <p:sp>
        <p:nvSpPr>
          <p:cNvPr id="8" name="Footer Placeholder 7">
            <a:extLst>
              <a:ext uri="{FF2B5EF4-FFF2-40B4-BE49-F238E27FC236}">
                <a16:creationId xmlns:a16="http://schemas.microsoft.com/office/drawing/2014/main" id="{5298E6CC-A218-CDE1-9F2A-910A6D9AE22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B667E4A-2B81-DE52-9029-7821AD85B17E}"/>
              </a:ext>
            </a:extLst>
          </p:cNvPr>
          <p:cNvSpPr>
            <a:spLocks noGrp="1"/>
          </p:cNvSpPr>
          <p:nvPr>
            <p:ph type="sldNum" sz="quarter" idx="12"/>
          </p:nvPr>
        </p:nvSpPr>
        <p:spPr/>
        <p:txBody>
          <a:bodyPr/>
          <a:lstStyle/>
          <a:p>
            <a:fld id="{DCCCF3D2-9ECE-0648-8A3C-991CD8DD5412}" type="slidenum">
              <a:rPr lang="en-US" smtClean="0"/>
              <a:t>‹#›</a:t>
            </a:fld>
            <a:endParaRPr lang="en-US"/>
          </a:p>
        </p:txBody>
      </p:sp>
    </p:spTree>
    <p:extLst>
      <p:ext uri="{BB962C8B-B14F-4D97-AF65-F5344CB8AC3E}">
        <p14:creationId xmlns:p14="http://schemas.microsoft.com/office/powerpoint/2010/main" val="3585061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FAEC0-4374-D818-F17E-3D446F3D448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84D6C36-8900-BAFA-7181-B90D151F7567}"/>
              </a:ext>
            </a:extLst>
          </p:cNvPr>
          <p:cNvSpPr>
            <a:spLocks noGrp="1"/>
          </p:cNvSpPr>
          <p:nvPr>
            <p:ph type="dt" sz="half" idx="10"/>
          </p:nvPr>
        </p:nvSpPr>
        <p:spPr/>
        <p:txBody>
          <a:bodyPr/>
          <a:lstStyle/>
          <a:p>
            <a:fld id="{9783FBE6-1ACA-3E45-8AE7-65AC31A9107D}" type="datetimeFigureOut">
              <a:rPr lang="en-US" smtClean="0"/>
              <a:t>2/20/26</a:t>
            </a:fld>
            <a:endParaRPr lang="en-US"/>
          </a:p>
        </p:txBody>
      </p:sp>
      <p:sp>
        <p:nvSpPr>
          <p:cNvPr id="4" name="Footer Placeholder 3">
            <a:extLst>
              <a:ext uri="{FF2B5EF4-FFF2-40B4-BE49-F238E27FC236}">
                <a16:creationId xmlns:a16="http://schemas.microsoft.com/office/drawing/2014/main" id="{33264E51-73E5-43E0-C3A6-447E9AD44BE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1DCC217-BFF1-A124-93D2-2D55F8945B57}"/>
              </a:ext>
            </a:extLst>
          </p:cNvPr>
          <p:cNvSpPr>
            <a:spLocks noGrp="1"/>
          </p:cNvSpPr>
          <p:nvPr>
            <p:ph type="sldNum" sz="quarter" idx="12"/>
          </p:nvPr>
        </p:nvSpPr>
        <p:spPr/>
        <p:txBody>
          <a:bodyPr/>
          <a:lstStyle/>
          <a:p>
            <a:fld id="{DCCCF3D2-9ECE-0648-8A3C-991CD8DD5412}" type="slidenum">
              <a:rPr lang="en-US" smtClean="0"/>
              <a:t>‹#›</a:t>
            </a:fld>
            <a:endParaRPr lang="en-US"/>
          </a:p>
        </p:txBody>
      </p:sp>
    </p:spTree>
    <p:extLst>
      <p:ext uri="{BB962C8B-B14F-4D97-AF65-F5344CB8AC3E}">
        <p14:creationId xmlns:p14="http://schemas.microsoft.com/office/powerpoint/2010/main" val="2706876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67549A-37BA-DA40-650B-A0ECCC97A961}"/>
              </a:ext>
            </a:extLst>
          </p:cNvPr>
          <p:cNvSpPr>
            <a:spLocks noGrp="1"/>
          </p:cNvSpPr>
          <p:nvPr>
            <p:ph type="dt" sz="half" idx="10"/>
          </p:nvPr>
        </p:nvSpPr>
        <p:spPr/>
        <p:txBody>
          <a:bodyPr/>
          <a:lstStyle/>
          <a:p>
            <a:fld id="{9783FBE6-1ACA-3E45-8AE7-65AC31A9107D}" type="datetimeFigureOut">
              <a:rPr lang="en-US" smtClean="0"/>
              <a:t>2/20/26</a:t>
            </a:fld>
            <a:endParaRPr lang="en-US"/>
          </a:p>
        </p:txBody>
      </p:sp>
      <p:sp>
        <p:nvSpPr>
          <p:cNvPr id="3" name="Footer Placeholder 2">
            <a:extLst>
              <a:ext uri="{FF2B5EF4-FFF2-40B4-BE49-F238E27FC236}">
                <a16:creationId xmlns:a16="http://schemas.microsoft.com/office/drawing/2014/main" id="{293CCA65-1890-F7EB-F526-F2F3D4535DD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014E2BB-C934-59B4-8CAA-752A9BAFB2CA}"/>
              </a:ext>
            </a:extLst>
          </p:cNvPr>
          <p:cNvSpPr>
            <a:spLocks noGrp="1"/>
          </p:cNvSpPr>
          <p:nvPr>
            <p:ph type="sldNum" sz="quarter" idx="12"/>
          </p:nvPr>
        </p:nvSpPr>
        <p:spPr/>
        <p:txBody>
          <a:bodyPr/>
          <a:lstStyle/>
          <a:p>
            <a:fld id="{DCCCF3D2-9ECE-0648-8A3C-991CD8DD5412}" type="slidenum">
              <a:rPr lang="en-US" smtClean="0"/>
              <a:t>‹#›</a:t>
            </a:fld>
            <a:endParaRPr lang="en-US"/>
          </a:p>
        </p:txBody>
      </p:sp>
    </p:spTree>
    <p:extLst>
      <p:ext uri="{BB962C8B-B14F-4D97-AF65-F5344CB8AC3E}">
        <p14:creationId xmlns:p14="http://schemas.microsoft.com/office/powerpoint/2010/main" val="4146169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BB1D8-A0CF-0D21-9D7A-229E0ABD5A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139B52-DD87-CD26-79F4-28F62A2535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17641FA-B46D-2909-0E5F-C86E28EBF6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828DA1-41CF-59C2-0A6D-7EFB3CF9CA8C}"/>
              </a:ext>
            </a:extLst>
          </p:cNvPr>
          <p:cNvSpPr>
            <a:spLocks noGrp="1"/>
          </p:cNvSpPr>
          <p:nvPr>
            <p:ph type="dt" sz="half" idx="10"/>
          </p:nvPr>
        </p:nvSpPr>
        <p:spPr/>
        <p:txBody>
          <a:bodyPr/>
          <a:lstStyle/>
          <a:p>
            <a:fld id="{9783FBE6-1ACA-3E45-8AE7-65AC31A9107D}" type="datetimeFigureOut">
              <a:rPr lang="en-US" smtClean="0"/>
              <a:t>2/20/26</a:t>
            </a:fld>
            <a:endParaRPr lang="en-US"/>
          </a:p>
        </p:txBody>
      </p:sp>
      <p:sp>
        <p:nvSpPr>
          <p:cNvPr id="6" name="Footer Placeholder 5">
            <a:extLst>
              <a:ext uri="{FF2B5EF4-FFF2-40B4-BE49-F238E27FC236}">
                <a16:creationId xmlns:a16="http://schemas.microsoft.com/office/drawing/2014/main" id="{E957660D-CBF6-29F3-B115-B9B1C07DA6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272F7D-E70A-EF03-6E73-C9E0CEADB0F4}"/>
              </a:ext>
            </a:extLst>
          </p:cNvPr>
          <p:cNvSpPr>
            <a:spLocks noGrp="1"/>
          </p:cNvSpPr>
          <p:nvPr>
            <p:ph type="sldNum" sz="quarter" idx="12"/>
          </p:nvPr>
        </p:nvSpPr>
        <p:spPr/>
        <p:txBody>
          <a:bodyPr/>
          <a:lstStyle/>
          <a:p>
            <a:fld id="{DCCCF3D2-9ECE-0648-8A3C-991CD8DD5412}" type="slidenum">
              <a:rPr lang="en-US" smtClean="0"/>
              <a:t>‹#›</a:t>
            </a:fld>
            <a:endParaRPr lang="en-US"/>
          </a:p>
        </p:txBody>
      </p:sp>
    </p:spTree>
    <p:extLst>
      <p:ext uri="{BB962C8B-B14F-4D97-AF65-F5344CB8AC3E}">
        <p14:creationId xmlns:p14="http://schemas.microsoft.com/office/powerpoint/2010/main" val="2216769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496E7-88F0-D402-DC23-23F92BD258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B3293C-EA99-08AA-64B4-B29C7A2DB2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D7C903F-6540-B9B4-360F-F6228E999E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6934B4-AABC-5533-D255-F09EE71688C4}"/>
              </a:ext>
            </a:extLst>
          </p:cNvPr>
          <p:cNvSpPr>
            <a:spLocks noGrp="1"/>
          </p:cNvSpPr>
          <p:nvPr>
            <p:ph type="dt" sz="half" idx="10"/>
          </p:nvPr>
        </p:nvSpPr>
        <p:spPr/>
        <p:txBody>
          <a:bodyPr/>
          <a:lstStyle/>
          <a:p>
            <a:fld id="{9783FBE6-1ACA-3E45-8AE7-65AC31A9107D}" type="datetimeFigureOut">
              <a:rPr lang="en-US" smtClean="0"/>
              <a:t>2/20/26</a:t>
            </a:fld>
            <a:endParaRPr lang="en-US"/>
          </a:p>
        </p:txBody>
      </p:sp>
      <p:sp>
        <p:nvSpPr>
          <p:cNvPr id="6" name="Footer Placeholder 5">
            <a:extLst>
              <a:ext uri="{FF2B5EF4-FFF2-40B4-BE49-F238E27FC236}">
                <a16:creationId xmlns:a16="http://schemas.microsoft.com/office/drawing/2014/main" id="{E3230BCD-7BE4-147B-408B-7E02474E95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D948E0-D2AA-42A3-9E1B-BC2895AF8BD1}"/>
              </a:ext>
            </a:extLst>
          </p:cNvPr>
          <p:cNvSpPr>
            <a:spLocks noGrp="1"/>
          </p:cNvSpPr>
          <p:nvPr>
            <p:ph type="sldNum" sz="quarter" idx="12"/>
          </p:nvPr>
        </p:nvSpPr>
        <p:spPr/>
        <p:txBody>
          <a:bodyPr/>
          <a:lstStyle/>
          <a:p>
            <a:fld id="{DCCCF3D2-9ECE-0648-8A3C-991CD8DD5412}" type="slidenum">
              <a:rPr lang="en-US" smtClean="0"/>
              <a:t>‹#›</a:t>
            </a:fld>
            <a:endParaRPr lang="en-US"/>
          </a:p>
        </p:txBody>
      </p:sp>
    </p:spTree>
    <p:extLst>
      <p:ext uri="{BB962C8B-B14F-4D97-AF65-F5344CB8AC3E}">
        <p14:creationId xmlns:p14="http://schemas.microsoft.com/office/powerpoint/2010/main" val="5742586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76985-38FA-2138-FCD5-7417E3C724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2B4E4A-037A-FB17-92D5-A7598533C3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A9D525-7E0B-A944-3EB9-847D047A96D2}"/>
              </a:ext>
            </a:extLst>
          </p:cNvPr>
          <p:cNvSpPr>
            <a:spLocks noGrp="1"/>
          </p:cNvSpPr>
          <p:nvPr>
            <p:ph type="dt" sz="half" idx="10"/>
          </p:nvPr>
        </p:nvSpPr>
        <p:spPr/>
        <p:txBody>
          <a:bodyPr/>
          <a:lstStyle/>
          <a:p>
            <a:fld id="{9783FBE6-1ACA-3E45-8AE7-65AC31A9107D}" type="datetimeFigureOut">
              <a:rPr lang="en-US" smtClean="0"/>
              <a:t>2/20/26</a:t>
            </a:fld>
            <a:endParaRPr lang="en-US"/>
          </a:p>
        </p:txBody>
      </p:sp>
      <p:sp>
        <p:nvSpPr>
          <p:cNvPr id="5" name="Footer Placeholder 4">
            <a:extLst>
              <a:ext uri="{FF2B5EF4-FFF2-40B4-BE49-F238E27FC236}">
                <a16:creationId xmlns:a16="http://schemas.microsoft.com/office/drawing/2014/main" id="{1F3DB6F5-6093-7616-CDA1-B1CF5FB799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5CBFED-2253-DB90-727C-BA2AB311DCE2}"/>
              </a:ext>
            </a:extLst>
          </p:cNvPr>
          <p:cNvSpPr>
            <a:spLocks noGrp="1"/>
          </p:cNvSpPr>
          <p:nvPr>
            <p:ph type="sldNum" sz="quarter" idx="12"/>
          </p:nvPr>
        </p:nvSpPr>
        <p:spPr/>
        <p:txBody>
          <a:bodyPr/>
          <a:lstStyle/>
          <a:p>
            <a:fld id="{DCCCF3D2-9ECE-0648-8A3C-991CD8DD5412}" type="slidenum">
              <a:rPr lang="en-US" smtClean="0"/>
              <a:t>‹#›</a:t>
            </a:fld>
            <a:endParaRPr lang="en-US"/>
          </a:p>
        </p:txBody>
      </p:sp>
    </p:spTree>
    <p:extLst>
      <p:ext uri="{BB962C8B-B14F-4D97-AF65-F5344CB8AC3E}">
        <p14:creationId xmlns:p14="http://schemas.microsoft.com/office/powerpoint/2010/main" val="22206086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B5E692-8879-7B85-1C9B-02ED98A8D95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5EB9EA-984B-03E1-9A14-795CD08A02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56F9F2-103D-1FCA-128F-7D804D3D95A2}"/>
              </a:ext>
            </a:extLst>
          </p:cNvPr>
          <p:cNvSpPr>
            <a:spLocks noGrp="1"/>
          </p:cNvSpPr>
          <p:nvPr>
            <p:ph type="dt" sz="half" idx="10"/>
          </p:nvPr>
        </p:nvSpPr>
        <p:spPr/>
        <p:txBody>
          <a:bodyPr/>
          <a:lstStyle/>
          <a:p>
            <a:fld id="{9783FBE6-1ACA-3E45-8AE7-65AC31A9107D}" type="datetimeFigureOut">
              <a:rPr lang="en-US" smtClean="0"/>
              <a:t>2/20/26</a:t>
            </a:fld>
            <a:endParaRPr lang="en-US"/>
          </a:p>
        </p:txBody>
      </p:sp>
      <p:sp>
        <p:nvSpPr>
          <p:cNvPr id="5" name="Footer Placeholder 4">
            <a:extLst>
              <a:ext uri="{FF2B5EF4-FFF2-40B4-BE49-F238E27FC236}">
                <a16:creationId xmlns:a16="http://schemas.microsoft.com/office/drawing/2014/main" id="{621C0ABF-BBD6-4837-A618-2D8AC41B0F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55CA97-322E-504E-5957-A2404E5B659D}"/>
              </a:ext>
            </a:extLst>
          </p:cNvPr>
          <p:cNvSpPr>
            <a:spLocks noGrp="1"/>
          </p:cNvSpPr>
          <p:nvPr>
            <p:ph type="sldNum" sz="quarter" idx="12"/>
          </p:nvPr>
        </p:nvSpPr>
        <p:spPr/>
        <p:txBody>
          <a:bodyPr/>
          <a:lstStyle/>
          <a:p>
            <a:fld id="{DCCCF3D2-9ECE-0648-8A3C-991CD8DD5412}" type="slidenum">
              <a:rPr lang="en-US" smtClean="0"/>
              <a:t>‹#›</a:t>
            </a:fld>
            <a:endParaRPr lang="en-US"/>
          </a:p>
        </p:txBody>
      </p:sp>
    </p:spTree>
    <p:extLst>
      <p:ext uri="{BB962C8B-B14F-4D97-AF65-F5344CB8AC3E}">
        <p14:creationId xmlns:p14="http://schemas.microsoft.com/office/powerpoint/2010/main" val="2550505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8F5245-6A13-BD36-86C9-F31E7501A0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A5D0142-884A-C456-B2B2-00A77BDE2D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552B49-BED9-7770-8B99-E4E6526AC8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783FBE6-1ACA-3E45-8AE7-65AC31A9107D}" type="datetimeFigureOut">
              <a:rPr lang="en-US" smtClean="0"/>
              <a:t>2/20/26</a:t>
            </a:fld>
            <a:endParaRPr lang="en-US"/>
          </a:p>
        </p:txBody>
      </p:sp>
      <p:sp>
        <p:nvSpPr>
          <p:cNvPr id="5" name="Footer Placeholder 4">
            <a:extLst>
              <a:ext uri="{FF2B5EF4-FFF2-40B4-BE49-F238E27FC236}">
                <a16:creationId xmlns:a16="http://schemas.microsoft.com/office/drawing/2014/main" id="{BF979E32-7E7E-4EF9-7A02-C994001A38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A6E933D-128F-8654-514E-068A569E98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CCCF3D2-9ECE-0648-8A3C-991CD8DD5412}" type="slidenum">
              <a:rPr lang="en-US" smtClean="0"/>
              <a:t>‹#›</a:t>
            </a:fld>
            <a:endParaRPr lang="en-US"/>
          </a:p>
        </p:txBody>
      </p:sp>
    </p:spTree>
    <p:extLst>
      <p:ext uri="{BB962C8B-B14F-4D97-AF65-F5344CB8AC3E}">
        <p14:creationId xmlns:p14="http://schemas.microsoft.com/office/powerpoint/2010/main" val="3856874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487DE-04B6-4336-5989-06F040AF418E}"/>
              </a:ext>
            </a:extLst>
          </p:cNvPr>
          <p:cNvSpPr>
            <a:spLocks noGrp="1"/>
          </p:cNvSpPr>
          <p:nvPr>
            <p:ph type="title"/>
          </p:nvPr>
        </p:nvSpPr>
        <p:spPr/>
        <p:txBody>
          <a:bodyPr/>
          <a:lstStyle/>
          <a:p>
            <a:r>
              <a:rPr lang="en-US" dirty="0" err="1"/>
              <a:t>MetaCyc</a:t>
            </a:r>
            <a:r>
              <a:rPr lang="en-US" dirty="0"/>
              <a:t> 2026</a:t>
            </a:r>
          </a:p>
        </p:txBody>
      </p:sp>
      <p:pic>
        <p:nvPicPr>
          <p:cNvPr id="5" name="Content Placeholder 4" descr="A screenshot of a computer&#10;&#10;AI-generated content may be incorrect.">
            <a:extLst>
              <a:ext uri="{FF2B5EF4-FFF2-40B4-BE49-F238E27FC236}">
                <a16:creationId xmlns:a16="http://schemas.microsoft.com/office/drawing/2014/main" id="{D293B575-C17E-EFAC-F4F6-1F41E73983CD}"/>
              </a:ext>
            </a:extLst>
          </p:cNvPr>
          <p:cNvPicPr>
            <a:picLocks noGrp="1" noChangeAspect="1"/>
          </p:cNvPicPr>
          <p:nvPr>
            <p:ph idx="1"/>
          </p:nvPr>
        </p:nvPicPr>
        <p:blipFill>
          <a:blip r:embed="rId2"/>
          <a:stretch>
            <a:fillRect/>
          </a:stretch>
        </p:blipFill>
        <p:spPr>
          <a:xfrm>
            <a:off x="937054" y="1445614"/>
            <a:ext cx="10515600" cy="3109563"/>
          </a:xfrm>
          <a:prstGeom prst="rect">
            <a:avLst/>
          </a:prstGeom>
        </p:spPr>
      </p:pic>
      <p:graphicFrame>
        <p:nvGraphicFramePr>
          <p:cNvPr id="7" name="Table 6">
            <a:extLst>
              <a:ext uri="{FF2B5EF4-FFF2-40B4-BE49-F238E27FC236}">
                <a16:creationId xmlns:a16="http://schemas.microsoft.com/office/drawing/2014/main" id="{E92EB6AD-D266-87B5-06BB-5D65B75B3FC1}"/>
              </a:ext>
            </a:extLst>
          </p:cNvPr>
          <p:cNvGraphicFramePr>
            <a:graphicFrameLocks noGrp="1"/>
          </p:cNvGraphicFramePr>
          <p:nvPr>
            <p:extLst>
              <p:ext uri="{D42A27DB-BD31-4B8C-83A1-F6EECF244321}">
                <p14:modId xmlns:p14="http://schemas.microsoft.com/office/powerpoint/2010/main" val="143148268"/>
              </p:ext>
            </p:extLst>
          </p:nvPr>
        </p:nvGraphicFramePr>
        <p:xfrm>
          <a:off x="1437567" y="4670706"/>
          <a:ext cx="9316865" cy="1483360"/>
        </p:xfrm>
        <a:graphic>
          <a:graphicData uri="http://schemas.openxmlformats.org/drawingml/2006/table">
            <a:tbl>
              <a:tblPr firstRow="1" bandRow="1">
                <a:tableStyleId>{5C22544A-7EE6-4342-B048-85BDC9FD1C3A}</a:tableStyleId>
              </a:tblPr>
              <a:tblGrid>
                <a:gridCol w="1863373">
                  <a:extLst>
                    <a:ext uri="{9D8B030D-6E8A-4147-A177-3AD203B41FA5}">
                      <a16:colId xmlns:a16="http://schemas.microsoft.com/office/drawing/2014/main" val="2744355920"/>
                    </a:ext>
                  </a:extLst>
                </a:gridCol>
                <a:gridCol w="1863373">
                  <a:extLst>
                    <a:ext uri="{9D8B030D-6E8A-4147-A177-3AD203B41FA5}">
                      <a16:colId xmlns:a16="http://schemas.microsoft.com/office/drawing/2014/main" val="1618209021"/>
                    </a:ext>
                  </a:extLst>
                </a:gridCol>
                <a:gridCol w="1226846">
                  <a:extLst>
                    <a:ext uri="{9D8B030D-6E8A-4147-A177-3AD203B41FA5}">
                      <a16:colId xmlns:a16="http://schemas.microsoft.com/office/drawing/2014/main" val="2416641257"/>
                    </a:ext>
                  </a:extLst>
                </a:gridCol>
                <a:gridCol w="1541721">
                  <a:extLst>
                    <a:ext uri="{9D8B030D-6E8A-4147-A177-3AD203B41FA5}">
                      <a16:colId xmlns:a16="http://schemas.microsoft.com/office/drawing/2014/main" val="3835816091"/>
                    </a:ext>
                  </a:extLst>
                </a:gridCol>
                <a:gridCol w="2821552">
                  <a:extLst>
                    <a:ext uri="{9D8B030D-6E8A-4147-A177-3AD203B41FA5}">
                      <a16:colId xmlns:a16="http://schemas.microsoft.com/office/drawing/2014/main" val="1399929793"/>
                    </a:ext>
                  </a:extLst>
                </a:gridCol>
              </a:tblGrid>
              <a:tr h="370840">
                <a:tc>
                  <a:txBody>
                    <a:bodyPr/>
                    <a:lstStyle/>
                    <a:p>
                      <a:r>
                        <a:rPr lang="en-US" dirty="0"/>
                        <a:t>Database</a:t>
                      </a:r>
                    </a:p>
                  </a:txBody>
                  <a:tcPr/>
                </a:tc>
                <a:tc>
                  <a:txBody>
                    <a:bodyPr/>
                    <a:lstStyle/>
                    <a:p>
                      <a:r>
                        <a:rPr lang="en-US" dirty="0"/>
                        <a:t>Reactions</a:t>
                      </a:r>
                    </a:p>
                  </a:txBody>
                  <a:tcPr/>
                </a:tc>
                <a:tc>
                  <a:txBody>
                    <a:bodyPr/>
                    <a:lstStyle/>
                    <a:p>
                      <a:r>
                        <a:rPr lang="en-US" dirty="0"/>
                        <a:t>ECs</a:t>
                      </a:r>
                    </a:p>
                  </a:txBody>
                  <a:tcPr/>
                </a:tc>
                <a:tc>
                  <a:txBody>
                    <a:bodyPr/>
                    <a:lstStyle/>
                    <a:p>
                      <a:r>
                        <a:rPr lang="en-US" dirty="0"/>
                        <a:t>Pathways</a:t>
                      </a:r>
                    </a:p>
                  </a:txBody>
                  <a:tcPr/>
                </a:tc>
                <a:tc>
                  <a:txBody>
                    <a:bodyPr/>
                    <a:lstStyle/>
                    <a:p>
                      <a:r>
                        <a:rPr lang="en-US" dirty="0"/>
                        <a:t>Pathways bacteria</a:t>
                      </a:r>
                    </a:p>
                  </a:txBody>
                  <a:tcPr/>
                </a:tc>
                <a:extLst>
                  <a:ext uri="{0D108BD9-81ED-4DB2-BD59-A6C34878D82A}">
                    <a16:rowId xmlns:a16="http://schemas.microsoft.com/office/drawing/2014/main" val="1568676475"/>
                  </a:ext>
                </a:extLst>
              </a:tr>
              <a:tr h="370840">
                <a:tc>
                  <a:txBody>
                    <a:bodyPr/>
                    <a:lstStyle/>
                    <a:p>
                      <a:r>
                        <a:rPr lang="en-US" dirty="0" err="1"/>
                        <a:t>Minpath</a:t>
                      </a:r>
                      <a:r>
                        <a:rPr lang="en-US" dirty="0"/>
                        <a:t> (2020)</a:t>
                      </a:r>
                    </a:p>
                  </a:txBody>
                  <a:tcPr/>
                </a:tc>
                <a:tc>
                  <a:txBody>
                    <a:bodyPr/>
                    <a:lstStyle/>
                    <a:p>
                      <a:endParaRPr lang="en-US" dirty="0"/>
                    </a:p>
                  </a:txBody>
                  <a:tcPr/>
                </a:tc>
                <a:tc>
                  <a:txBody>
                    <a:bodyPr/>
                    <a:lstStyle/>
                    <a:p>
                      <a:r>
                        <a:rPr lang="en-US" dirty="0"/>
                        <a:t>2,170</a:t>
                      </a:r>
                    </a:p>
                  </a:txBody>
                  <a:tcPr/>
                </a:tc>
                <a:tc>
                  <a:txBody>
                    <a:bodyPr/>
                    <a:lstStyle/>
                    <a:p>
                      <a:r>
                        <a:rPr lang="en-US" dirty="0"/>
                        <a:t>1,054</a:t>
                      </a:r>
                    </a:p>
                  </a:txBody>
                  <a:tcPr/>
                </a:tc>
                <a:tc>
                  <a:txBody>
                    <a:bodyPr/>
                    <a:lstStyle/>
                    <a:p>
                      <a:endParaRPr lang="en-US" dirty="0"/>
                    </a:p>
                  </a:txBody>
                  <a:tcPr/>
                </a:tc>
                <a:extLst>
                  <a:ext uri="{0D108BD9-81ED-4DB2-BD59-A6C34878D82A}">
                    <a16:rowId xmlns:a16="http://schemas.microsoft.com/office/drawing/2014/main" val="1578768732"/>
                  </a:ext>
                </a:extLst>
              </a:tr>
              <a:tr h="370840">
                <a:tc>
                  <a:txBody>
                    <a:bodyPr/>
                    <a:lstStyle/>
                    <a:p>
                      <a:r>
                        <a:rPr lang="en-US" dirty="0"/>
                        <a:t>PICRUSt2 (2023)</a:t>
                      </a:r>
                    </a:p>
                  </a:txBody>
                  <a:tcPr/>
                </a:tc>
                <a:tc>
                  <a:txBody>
                    <a:bodyPr/>
                    <a:lstStyle/>
                    <a:p>
                      <a:r>
                        <a:rPr lang="en-US" dirty="0"/>
                        <a:t>6,771</a:t>
                      </a:r>
                    </a:p>
                  </a:txBody>
                  <a:tcPr/>
                </a:tc>
                <a:tc>
                  <a:txBody>
                    <a:bodyPr/>
                    <a:lstStyle/>
                    <a:p>
                      <a:r>
                        <a:rPr lang="en-US" dirty="0"/>
                        <a:t>4,607</a:t>
                      </a:r>
                    </a:p>
                  </a:txBody>
                  <a:tcPr/>
                </a:tc>
                <a:tc>
                  <a:txBody>
                    <a:bodyPr/>
                    <a:lstStyle/>
                    <a:p>
                      <a:r>
                        <a:rPr lang="en-US" dirty="0"/>
                        <a:t>1,018</a:t>
                      </a:r>
                    </a:p>
                  </a:txBody>
                  <a:tcPr/>
                </a:tc>
                <a:tc>
                  <a:txBody>
                    <a:bodyPr/>
                    <a:lstStyle/>
                    <a:p>
                      <a:r>
                        <a:rPr lang="en-US" dirty="0"/>
                        <a:t>575</a:t>
                      </a:r>
                    </a:p>
                  </a:txBody>
                  <a:tcPr/>
                </a:tc>
                <a:extLst>
                  <a:ext uri="{0D108BD9-81ED-4DB2-BD59-A6C34878D82A}">
                    <a16:rowId xmlns:a16="http://schemas.microsoft.com/office/drawing/2014/main" val="3341081979"/>
                  </a:ext>
                </a:extLst>
              </a:tr>
              <a:tr h="370840">
                <a:tc>
                  <a:txBody>
                    <a:bodyPr/>
                    <a:lstStyle/>
                    <a:p>
                      <a:r>
                        <a:rPr lang="en-US" dirty="0" err="1"/>
                        <a:t>MetaCyc</a:t>
                      </a:r>
                      <a:r>
                        <a:rPr lang="en-US" dirty="0"/>
                        <a:t> (2026)</a:t>
                      </a:r>
                    </a:p>
                  </a:txBody>
                  <a:tcPr/>
                </a:tc>
                <a:tc>
                  <a:txBody>
                    <a:bodyPr/>
                    <a:lstStyle/>
                    <a:p>
                      <a:r>
                        <a:rPr lang="en-US" dirty="0"/>
                        <a:t>19,126</a:t>
                      </a:r>
                    </a:p>
                  </a:txBody>
                  <a:tcPr/>
                </a:tc>
                <a:tc>
                  <a:txBody>
                    <a:bodyPr/>
                    <a:lstStyle/>
                    <a:p>
                      <a:r>
                        <a:rPr lang="en-US" dirty="0"/>
                        <a:t>14,507</a:t>
                      </a:r>
                    </a:p>
                  </a:txBody>
                  <a:tcPr/>
                </a:tc>
                <a:tc>
                  <a:txBody>
                    <a:bodyPr/>
                    <a:lstStyle/>
                    <a:p>
                      <a:r>
                        <a:rPr lang="en-US" dirty="0"/>
                        <a:t>3,653</a:t>
                      </a:r>
                    </a:p>
                  </a:txBody>
                  <a:tcPr/>
                </a:tc>
                <a:tc>
                  <a:txBody>
                    <a:bodyPr/>
                    <a:lstStyle/>
                    <a:p>
                      <a:r>
                        <a:rPr lang="en-US" dirty="0"/>
                        <a:t>2,251</a:t>
                      </a:r>
                    </a:p>
                  </a:txBody>
                  <a:tcPr/>
                </a:tc>
                <a:extLst>
                  <a:ext uri="{0D108BD9-81ED-4DB2-BD59-A6C34878D82A}">
                    <a16:rowId xmlns:a16="http://schemas.microsoft.com/office/drawing/2014/main" val="3637538624"/>
                  </a:ext>
                </a:extLst>
              </a:tr>
            </a:tbl>
          </a:graphicData>
        </a:graphic>
      </p:graphicFrame>
      <p:sp>
        <p:nvSpPr>
          <p:cNvPr id="8" name="TextBox 7">
            <a:extLst>
              <a:ext uri="{FF2B5EF4-FFF2-40B4-BE49-F238E27FC236}">
                <a16:creationId xmlns:a16="http://schemas.microsoft.com/office/drawing/2014/main" id="{90943B4B-1536-BB34-E42E-B2D546C8B240}"/>
              </a:ext>
            </a:extLst>
          </p:cNvPr>
          <p:cNvSpPr txBox="1"/>
          <p:nvPr/>
        </p:nvSpPr>
        <p:spPr>
          <a:xfrm>
            <a:off x="0" y="6169709"/>
            <a:ext cx="11823173" cy="1077218"/>
          </a:xfrm>
          <a:prstGeom prst="rect">
            <a:avLst/>
          </a:prstGeom>
          <a:noFill/>
        </p:spPr>
        <p:txBody>
          <a:bodyPr wrap="none" rtlCol="0">
            <a:spAutoFit/>
          </a:bodyPr>
          <a:lstStyle/>
          <a:p>
            <a:r>
              <a:rPr lang="en-US" sz="1600" dirty="0"/>
              <a:t>*An enzyme can catalyze multiple reactions* </a:t>
            </a:r>
            <a:r>
              <a:rPr lang="en-US" sz="1600" dirty="0">
                <a:sym typeface="Wingdings" pitchFamily="2" charset="2"/>
              </a:rPr>
              <a:t>  </a:t>
            </a:r>
            <a:r>
              <a:rPr lang="en-CA" sz="1600" dirty="0"/>
              <a:t>EC-2.3.1.297 (ceramide synthase) catalyzes RXN-20399 // RXN-20398 // RXN3O-328</a:t>
            </a:r>
          </a:p>
          <a:p>
            <a:r>
              <a:rPr lang="en-CA" sz="1600" dirty="0"/>
              <a:t>*A reaction can be catalyzed by multiple enzymes too. We have more reactions than enzymes*</a:t>
            </a:r>
          </a:p>
          <a:p>
            <a:endParaRPr lang="en-CA" sz="1600" dirty="0"/>
          </a:p>
          <a:p>
            <a:r>
              <a:rPr lang="en-US" sz="1600" dirty="0">
                <a:sym typeface="Wingdings" pitchFamily="2" charset="2"/>
              </a:rPr>
              <a:t> </a:t>
            </a:r>
            <a:endParaRPr lang="en-US" sz="1600" dirty="0"/>
          </a:p>
        </p:txBody>
      </p:sp>
    </p:spTree>
    <p:extLst>
      <p:ext uri="{BB962C8B-B14F-4D97-AF65-F5344CB8AC3E}">
        <p14:creationId xmlns:p14="http://schemas.microsoft.com/office/powerpoint/2010/main" val="2262269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CD314-942A-ABFE-DCD6-A0843C59DFB1}"/>
              </a:ext>
            </a:extLst>
          </p:cNvPr>
          <p:cNvSpPr>
            <a:spLocks noGrp="1"/>
          </p:cNvSpPr>
          <p:nvPr>
            <p:ph type="title"/>
          </p:nvPr>
        </p:nvSpPr>
        <p:spPr/>
        <p:txBody>
          <a:bodyPr/>
          <a:lstStyle/>
          <a:p>
            <a:r>
              <a:rPr lang="en-US" dirty="0" err="1"/>
              <a:t>MetaCyc</a:t>
            </a:r>
            <a:r>
              <a:rPr lang="en-US" dirty="0"/>
              <a:t> tables:</a:t>
            </a:r>
          </a:p>
        </p:txBody>
      </p:sp>
      <p:pic>
        <p:nvPicPr>
          <p:cNvPr id="9" name="Content Placeholder 8" descr="A screenshot of a computer&#10;&#10;AI-generated content may be incorrect.">
            <a:extLst>
              <a:ext uri="{FF2B5EF4-FFF2-40B4-BE49-F238E27FC236}">
                <a16:creationId xmlns:a16="http://schemas.microsoft.com/office/drawing/2014/main" id="{4A2C7559-D977-4DA5-69B9-97270B770D66}"/>
              </a:ext>
            </a:extLst>
          </p:cNvPr>
          <p:cNvPicPr>
            <a:picLocks noGrp="1" noChangeAspect="1"/>
          </p:cNvPicPr>
          <p:nvPr>
            <p:ph idx="1"/>
          </p:nvPr>
        </p:nvPicPr>
        <p:blipFill>
          <a:blip r:embed="rId2"/>
          <a:stretch>
            <a:fillRect/>
          </a:stretch>
        </p:blipFill>
        <p:spPr>
          <a:xfrm>
            <a:off x="901700" y="2058194"/>
            <a:ext cx="10388600" cy="3886200"/>
          </a:xfrm>
          <a:prstGeom prst="rect">
            <a:avLst/>
          </a:prstGeom>
        </p:spPr>
      </p:pic>
    </p:spTree>
    <p:extLst>
      <p:ext uri="{BB962C8B-B14F-4D97-AF65-F5344CB8AC3E}">
        <p14:creationId xmlns:p14="http://schemas.microsoft.com/office/powerpoint/2010/main" val="1560835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CFECE-AB13-14D5-EEC7-142EC034FDD4}"/>
              </a:ext>
            </a:extLst>
          </p:cNvPr>
          <p:cNvSpPr>
            <a:spLocks noGrp="1"/>
          </p:cNvSpPr>
          <p:nvPr>
            <p:ph type="title"/>
          </p:nvPr>
        </p:nvSpPr>
        <p:spPr/>
        <p:txBody>
          <a:bodyPr/>
          <a:lstStyle/>
          <a:p>
            <a:r>
              <a:rPr lang="en-US" dirty="0" err="1"/>
              <a:t>MinPath</a:t>
            </a:r>
            <a:r>
              <a:rPr lang="en-US" dirty="0"/>
              <a:t> (PICRUSt2 package)</a:t>
            </a:r>
          </a:p>
        </p:txBody>
      </p:sp>
      <p:pic>
        <p:nvPicPr>
          <p:cNvPr id="10" name="Picture 9" descr="Schematic illustration of the MinPath method.&#10;Assume 6 families (or orthologous groups, f1, …, f6) are identified from a given sample of genes (e.g., the genes could be from a genome, or sampled from a metagenome). The naïve mapping approach (shown on the left) will lead to a reconstruction with 4 pathways annotated (p1, p2, p3, and p4). Due to the overlapping nature of the biological pathways (see text for more details), pathway p3 shares function f3 with pathway p2. We claim that only three pathways, p1, p2, and p3 are sufficient to explain the existence of the 6 families annotated in the dataset, and a conservative reconstruction of pathways should have only 3 pathways (shown on the right). As we show in the paper, such a conservative estimation of pathways provides a more reliable estimation of the functional diversity of a sample.">
            <a:extLst>
              <a:ext uri="{FF2B5EF4-FFF2-40B4-BE49-F238E27FC236}">
                <a16:creationId xmlns:a16="http://schemas.microsoft.com/office/drawing/2014/main" id="{2E7DC59F-BFCF-393B-6D05-0C318DEFFB6C}"/>
              </a:ext>
            </a:extLst>
          </p:cNvPr>
          <p:cNvPicPr>
            <a:picLocks noChangeAspect="1"/>
          </p:cNvPicPr>
          <p:nvPr/>
        </p:nvPicPr>
        <p:blipFill>
          <a:blip r:embed="rId2"/>
          <a:stretch>
            <a:fillRect/>
          </a:stretch>
        </p:blipFill>
        <p:spPr>
          <a:xfrm>
            <a:off x="838200" y="1947219"/>
            <a:ext cx="5396232" cy="3650392"/>
          </a:xfrm>
          <a:prstGeom prst="rect">
            <a:avLst/>
          </a:prstGeom>
        </p:spPr>
      </p:pic>
      <p:sp>
        <p:nvSpPr>
          <p:cNvPr id="11" name="TextBox 10">
            <a:extLst>
              <a:ext uri="{FF2B5EF4-FFF2-40B4-BE49-F238E27FC236}">
                <a16:creationId xmlns:a16="http://schemas.microsoft.com/office/drawing/2014/main" id="{9790ACB8-7F10-E7F3-8F1A-225D7643DD4E}"/>
              </a:ext>
            </a:extLst>
          </p:cNvPr>
          <p:cNvSpPr txBox="1"/>
          <p:nvPr/>
        </p:nvSpPr>
        <p:spPr>
          <a:xfrm>
            <a:off x="135924" y="5854142"/>
            <a:ext cx="3830595" cy="923330"/>
          </a:xfrm>
          <a:prstGeom prst="rect">
            <a:avLst/>
          </a:prstGeom>
          <a:noFill/>
        </p:spPr>
        <p:txBody>
          <a:bodyPr wrap="square" rtlCol="0">
            <a:spAutoFit/>
          </a:bodyPr>
          <a:lstStyle/>
          <a:p>
            <a:r>
              <a:rPr lang="en-US" dirty="0"/>
              <a:t>Naïve approach relies on a min. number of enzymes annotated to call a metabolic pathway</a:t>
            </a:r>
          </a:p>
        </p:txBody>
      </p:sp>
      <p:sp>
        <p:nvSpPr>
          <p:cNvPr id="12" name="TextBox 11">
            <a:extLst>
              <a:ext uri="{FF2B5EF4-FFF2-40B4-BE49-F238E27FC236}">
                <a16:creationId xmlns:a16="http://schemas.microsoft.com/office/drawing/2014/main" id="{7C6D76B4-2D47-FA9F-03AC-A541E688BEC6}"/>
              </a:ext>
            </a:extLst>
          </p:cNvPr>
          <p:cNvSpPr txBox="1"/>
          <p:nvPr/>
        </p:nvSpPr>
        <p:spPr>
          <a:xfrm>
            <a:off x="4180702" y="5854142"/>
            <a:ext cx="4419601" cy="923330"/>
          </a:xfrm>
          <a:prstGeom prst="rect">
            <a:avLst/>
          </a:prstGeom>
          <a:noFill/>
        </p:spPr>
        <p:txBody>
          <a:bodyPr wrap="square" rtlCol="0">
            <a:spAutoFit/>
          </a:bodyPr>
          <a:lstStyle/>
          <a:p>
            <a:r>
              <a:rPr lang="en-US" dirty="0"/>
              <a:t>Minimal parsimony looks for the lowest number of pathways using all enzymes present in the annotated genome</a:t>
            </a:r>
          </a:p>
        </p:txBody>
      </p:sp>
      <p:pic>
        <p:nvPicPr>
          <p:cNvPr id="13" name="Picture 12" descr="Comparison of the number of pathways reconstructed for various genomes by different methods. The coloring schema is as following: MinPath (red triangles), na  ̈ve mapping approach (green), and the pathway annotation maintained in KEGG database after human evaluation (blue). doi:10.1371/journal.pcbi.1000465.g002 ">
            <a:extLst>
              <a:ext uri="{FF2B5EF4-FFF2-40B4-BE49-F238E27FC236}">
                <a16:creationId xmlns:a16="http://schemas.microsoft.com/office/drawing/2014/main" id="{7B01EFF6-7B49-F7E0-14D1-D96AD83BA60E}"/>
              </a:ext>
            </a:extLst>
          </p:cNvPr>
          <p:cNvPicPr>
            <a:picLocks noChangeAspect="1"/>
          </p:cNvPicPr>
          <p:nvPr/>
        </p:nvPicPr>
        <p:blipFill>
          <a:blip r:embed="rId3"/>
          <a:stretch>
            <a:fillRect/>
          </a:stretch>
        </p:blipFill>
        <p:spPr>
          <a:xfrm>
            <a:off x="7682207" y="1690688"/>
            <a:ext cx="4279490" cy="3906923"/>
          </a:xfrm>
          <a:prstGeom prst="rect">
            <a:avLst/>
          </a:prstGeom>
        </p:spPr>
      </p:pic>
    </p:spTree>
    <p:extLst>
      <p:ext uri="{BB962C8B-B14F-4D97-AF65-F5344CB8AC3E}">
        <p14:creationId xmlns:p14="http://schemas.microsoft.com/office/powerpoint/2010/main" val="1490904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77554-FAFB-4730-0E60-4975E7254E38}"/>
              </a:ext>
            </a:extLst>
          </p:cNvPr>
          <p:cNvSpPr>
            <a:spLocks noGrp="1"/>
          </p:cNvSpPr>
          <p:nvPr>
            <p:ph type="title"/>
          </p:nvPr>
        </p:nvSpPr>
        <p:spPr/>
        <p:txBody>
          <a:bodyPr/>
          <a:lstStyle/>
          <a:p>
            <a:r>
              <a:rPr lang="en-US" dirty="0" err="1"/>
              <a:t>MetaCyc</a:t>
            </a:r>
            <a:r>
              <a:rPr lang="en-US" dirty="0"/>
              <a:t> 2026 &amp; Have-some-pie</a:t>
            </a:r>
          </a:p>
        </p:txBody>
      </p:sp>
      <p:sp>
        <p:nvSpPr>
          <p:cNvPr id="3" name="Content Placeholder 2">
            <a:extLst>
              <a:ext uri="{FF2B5EF4-FFF2-40B4-BE49-F238E27FC236}">
                <a16:creationId xmlns:a16="http://schemas.microsoft.com/office/drawing/2014/main" id="{2E5F5BD5-6320-EEC4-BB43-7DB35AA17073}"/>
              </a:ext>
            </a:extLst>
          </p:cNvPr>
          <p:cNvSpPr>
            <a:spLocks noGrp="1"/>
          </p:cNvSpPr>
          <p:nvPr>
            <p:ph idx="1"/>
          </p:nvPr>
        </p:nvSpPr>
        <p:spPr>
          <a:xfrm>
            <a:off x="838200" y="1627004"/>
            <a:ext cx="10515600" cy="4351338"/>
          </a:xfrm>
        </p:spPr>
        <p:txBody>
          <a:bodyPr>
            <a:normAutofit fontScale="92500" lnSpcReduction="20000"/>
          </a:bodyPr>
          <a:lstStyle/>
          <a:p>
            <a:pPr marL="0" indent="0">
              <a:buNone/>
            </a:pPr>
            <a:r>
              <a:rPr lang="en-US" b="1" dirty="0" err="1"/>
              <a:t>metacyc_genome_annotator.py</a:t>
            </a:r>
            <a:r>
              <a:rPr lang="en-US" b="1" dirty="0"/>
              <a:t> </a:t>
            </a:r>
          </a:p>
          <a:p>
            <a:pPr marL="0" indent="0">
              <a:buNone/>
            </a:pPr>
            <a:r>
              <a:rPr lang="en-US" dirty="0"/>
              <a:t>Parsed the EC genome annotations for each sample and reformatted for </a:t>
            </a:r>
            <a:r>
              <a:rPr lang="en-US" dirty="0" err="1"/>
              <a:t>Minpath</a:t>
            </a:r>
            <a:r>
              <a:rPr lang="en-US" dirty="0"/>
              <a:t> input</a:t>
            </a:r>
          </a:p>
          <a:p>
            <a:pPr marL="0" indent="0">
              <a:buNone/>
            </a:pPr>
            <a:endParaRPr lang="en-US" dirty="0"/>
          </a:p>
          <a:p>
            <a:pPr marL="0" indent="0">
              <a:buNone/>
            </a:pPr>
            <a:r>
              <a:rPr lang="en-US" b="1" dirty="0" err="1"/>
              <a:t>pathway_metacyc_merger.py</a:t>
            </a:r>
            <a:endParaRPr lang="en-US" b="1" dirty="0"/>
          </a:p>
          <a:p>
            <a:pPr marL="0" indent="0">
              <a:buNone/>
            </a:pPr>
            <a:r>
              <a:rPr lang="en-US" dirty="0"/>
              <a:t>Merges the multiple smart tables from </a:t>
            </a:r>
            <a:r>
              <a:rPr lang="en-US" dirty="0" err="1"/>
              <a:t>MetaCyc</a:t>
            </a:r>
            <a:r>
              <a:rPr lang="en-US" dirty="0"/>
              <a:t> with the elements we need (pathway ID, enzymes, reactions, category, summary)</a:t>
            </a:r>
          </a:p>
          <a:p>
            <a:pPr marL="0" indent="0">
              <a:buNone/>
            </a:pPr>
            <a:endParaRPr lang="en-US" dirty="0"/>
          </a:p>
          <a:p>
            <a:pPr marL="0" indent="0">
              <a:buNone/>
            </a:pPr>
            <a:r>
              <a:rPr lang="en-US" b="1" dirty="0" err="1"/>
              <a:t>prepping_minpath_files.py</a:t>
            </a:r>
            <a:endParaRPr lang="en-US" b="1" dirty="0"/>
          </a:p>
          <a:p>
            <a:pPr marL="0" indent="0">
              <a:buNone/>
            </a:pPr>
            <a:r>
              <a:rPr lang="en-US" dirty="0"/>
              <a:t>Takes the master table from the previous script and reformats it for </a:t>
            </a:r>
            <a:r>
              <a:rPr lang="en-US" dirty="0" err="1"/>
              <a:t>MinPath</a:t>
            </a:r>
            <a:endParaRPr lang="en-US" dirty="0"/>
          </a:p>
        </p:txBody>
      </p:sp>
    </p:spTree>
    <p:extLst>
      <p:ext uri="{BB962C8B-B14F-4D97-AF65-F5344CB8AC3E}">
        <p14:creationId xmlns:p14="http://schemas.microsoft.com/office/powerpoint/2010/main" val="201632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42D10-38B0-3C1F-235B-E02C8F6D573E}"/>
              </a:ext>
            </a:extLst>
          </p:cNvPr>
          <p:cNvSpPr>
            <a:spLocks noGrp="1"/>
          </p:cNvSpPr>
          <p:nvPr>
            <p:ph type="title"/>
          </p:nvPr>
        </p:nvSpPr>
        <p:spPr/>
        <p:txBody>
          <a:bodyPr/>
          <a:lstStyle/>
          <a:p>
            <a:r>
              <a:rPr lang="en-US" dirty="0" err="1"/>
              <a:t>MinPath</a:t>
            </a:r>
            <a:r>
              <a:rPr lang="en-US" dirty="0"/>
              <a:t> output</a:t>
            </a:r>
          </a:p>
        </p:txBody>
      </p:sp>
      <p:pic>
        <p:nvPicPr>
          <p:cNvPr id="5" name="Content Placeholder 4" descr="A black background with white text&#10;&#10;AI-generated content may be incorrect.">
            <a:extLst>
              <a:ext uri="{FF2B5EF4-FFF2-40B4-BE49-F238E27FC236}">
                <a16:creationId xmlns:a16="http://schemas.microsoft.com/office/drawing/2014/main" id="{910559D7-45A7-613E-5EA8-453EC238CC00}"/>
              </a:ext>
            </a:extLst>
          </p:cNvPr>
          <p:cNvPicPr>
            <a:picLocks noGrp="1" noChangeAspect="1"/>
          </p:cNvPicPr>
          <p:nvPr>
            <p:ph idx="1"/>
          </p:nvPr>
        </p:nvPicPr>
        <p:blipFill>
          <a:blip r:embed="rId2"/>
          <a:stretch>
            <a:fillRect/>
          </a:stretch>
        </p:blipFill>
        <p:spPr>
          <a:xfrm>
            <a:off x="615778" y="2007129"/>
            <a:ext cx="7564395" cy="2186583"/>
          </a:xfrm>
          <a:prstGeom prst="rect">
            <a:avLst/>
          </a:prstGeom>
        </p:spPr>
      </p:pic>
      <p:sp>
        <p:nvSpPr>
          <p:cNvPr id="6" name="TextBox 5">
            <a:extLst>
              <a:ext uri="{FF2B5EF4-FFF2-40B4-BE49-F238E27FC236}">
                <a16:creationId xmlns:a16="http://schemas.microsoft.com/office/drawing/2014/main" id="{C31BE49A-FAEC-8A9C-5121-50BCAF51F4CC}"/>
              </a:ext>
            </a:extLst>
          </p:cNvPr>
          <p:cNvSpPr txBox="1"/>
          <p:nvPr/>
        </p:nvSpPr>
        <p:spPr>
          <a:xfrm>
            <a:off x="615778" y="1425065"/>
            <a:ext cx="920445" cy="369332"/>
          </a:xfrm>
          <a:prstGeom prst="rect">
            <a:avLst/>
          </a:prstGeom>
          <a:noFill/>
        </p:spPr>
        <p:txBody>
          <a:bodyPr wrap="none" rtlCol="0">
            <a:spAutoFit/>
          </a:bodyPr>
          <a:lstStyle/>
          <a:p>
            <a:r>
              <a:rPr lang="en-US" dirty="0"/>
              <a:t>Report:</a:t>
            </a:r>
          </a:p>
        </p:txBody>
      </p:sp>
      <p:sp>
        <p:nvSpPr>
          <p:cNvPr id="9" name="TextBox 8">
            <a:extLst>
              <a:ext uri="{FF2B5EF4-FFF2-40B4-BE49-F238E27FC236}">
                <a16:creationId xmlns:a16="http://schemas.microsoft.com/office/drawing/2014/main" id="{9DA213FA-06AF-4F8A-FDF5-9C2A8F8ADAA8}"/>
              </a:ext>
            </a:extLst>
          </p:cNvPr>
          <p:cNvSpPr txBox="1"/>
          <p:nvPr/>
        </p:nvSpPr>
        <p:spPr>
          <a:xfrm>
            <a:off x="615777" y="4525177"/>
            <a:ext cx="1745158" cy="369332"/>
          </a:xfrm>
          <a:prstGeom prst="rect">
            <a:avLst/>
          </a:prstGeom>
          <a:noFill/>
        </p:spPr>
        <p:txBody>
          <a:bodyPr wrap="none" rtlCol="0">
            <a:spAutoFit/>
          </a:bodyPr>
          <a:lstStyle/>
          <a:p>
            <a:r>
              <a:rPr lang="en-US" dirty="0"/>
              <a:t>Detailed report:</a:t>
            </a:r>
          </a:p>
        </p:txBody>
      </p:sp>
      <p:pic>
        <p:nvPicPr>
          <p:cNvPr id="11" name="Picture 10" descr="A computer screen shot of white text&#10;&#10;AI-generated content may be incorrect.">
            <a:extLst>
              <a:ext uri="{FF2B5EF4-FFF2-40B4-BE49-F238E27FC236}">
                <a16:creationId xmlns:a16="http://schemas.microsoft.com/office/drawing/2014/main" id="{A2FCFFD9-B5F0-0330-014D-2DACC450D872}"/>
              </a:ext>
            </a:extLst>
          </p:cNvPr>
          <p:cNvPicPr>
            <a:picLocks noChangeAspect="1"/>
          </p:cNvPicPr>
          <p:nvPr/>
        </p:nvPicPr>
        <p:blipFill>
          <a:blip r:embed="rId3"/>
          <a:stretch>
            <a:fillRect/>
          </a:stretch>
        </p:blipFill>
        <p:spPr>
          <a:xfrm>
            <a:off x="615776" y="4894509"/>
            <a:ext cx="6575855" cy="1895896"/>
          </a:xfrm>
          <a:prstGeom prst="rect">
            <a:avLst/>
          </a:prstGeom>
        </p:spPr>
      </p:pic>
    </p:spTree>
    <p:extLst>
      <p:ext uri="{BB962C8B-B14F-4D97-AF65-F5344CB8AC3E}">
        <p14:creationId xmlns:p14="http://schemas.microsoft.com/office/powerpoint/2010/main" val="3673789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E07759-6ED5-0775-91C3-2AFBAA7C5AEE}"/>
              </a:ext>
            </a:extLst>
          </p:cNvPr>
          <p:cNvPicPr>
            <a:picLocks noChangeAspect="1"/>
          </p:cNvPicPr>
          <p:nvPr/>
        </p:nvPicPr>
        <p:blipFill>
          <a:blip r:embed="rId2"/>
          <a:stretch>
            <a:fillRect/>
          </a:stretch>
        </p:blipFill>
        <p:spPr>
          <a:xfrm>
            <a:off x="510478" y="845015"/>
            <a:ext cx="5283200" cy="5435600"/>
          </a:xfrm>
          <a:prstGeom prst="rect">
            <a:avLst/>
          </a:prstGeom>
        </p:spPr>
      </p:pic>
      <p:sp>
        <p:nvSpPr>
          <p:cNvPr id="5" name="TextBox 4">
            <a:extLst>
              <a:ext uri="{FF2B5EF4-FFF2-40B4-BE49-F238E27FC236}">
                <a16:creationId xmlns:a16="http://schemas.microsoft.com/office/drawing/2014/main" id="{9428B8FA-4759-BC4B-FABD-D1437859A7E1}"/>
              </a:ext>
            </a:extLst>
          </p:cNvPr>
          <p:cNvSpPr txBox="1"/>
          <p:nvPr/>
        </p:nvSpPr>
        <p:spPr>
          <a:xfrm>
            <a:off x="4756614" y="383350"/>
            <a:ext cx="6924908" cy="923330"/>
          </a:xfrm>
          <a:prstGeom prst="rect">
            <a:avLst/>
          </a:prstGeom>
          <a:noFill/>
        </p:spPr>
        <p:txBody>
          <a:bodyPr wrap="square" rtlCol="0">
            <a:spAutoFit/>
          </a:bodyPr>
          <a:lstStyle/>
          <a:p>
            <a:r>
              <a:rPr lang="en-CA" dirty="0"/>
              <a:t>Updating the </a:t>
            </a:r>
            <a:r>
              <a:rPr lang="en-CA" dirty="0" err="1"/>
              <a:t>MetaCyc</a:t>
            </a:r>
            <a:r>
              <a:rPr lang="en-CA" dirty="0"/>
              <a:t> database increased the total number of available pathway definitions but resulted in only modest changes in </a:t>
            </a:r>
            <a:r>
              <a:rPr lang="en-CA" dirty="0" err="1"/>
              <a:t>MinPath</a:t>
            </a:r>
            <a:r>
              <a:rPr lang="en-CA" dirty="0"/>
              <a:t> pathway predictions</a:t>
            </a:r>
            <a:endParaRPr lang="en-US" dirty="0"/>
          </a:p>
        </p:txBody>
      </p:sp>
    </p:spTree>
    <p:extLst>
      <p:ext uri="{BB962C8B-B14F-4D97-AF65-F5344CB8AC3E}">
        <p14:creationId xmlns:p14="http://schemas.microsoft.com/office/powerpoint/2010/main" val="4182511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CA38D-3836-4120-D8D7-DAF940116D2A}"/>
              </a:ext>
            </a:extLst>
          </p:cNvPr>
          <p:cNvSpPr>
            <a:spLocks noGrp="1"/>
          </p:cNvSpPr>
          <p:nvPr>
            <p:ph type="title"/>
          </p:nvPr>
        </p:nvSpPr>
        <p:spPr/>
        <p:txBody>
          <a:bodyPr/>
          <a:lstStyle/>
          <a:p>
            <a:r>
              <a:rPr lang="en-US" dirty="0" err="1"/>
              <a:t>MetaCyc</a:t>
            </a:r>
            <a:r>
              <a:rPr lang="en-US" dirty="0"/>
              <a:t> database curation</a:t>
            </a:r>
          </a:p>
        </p:txBody>
      </p:sp>
      <p:graphicFrame>
        <p:nvGraphicFramePr>
          <p:cNvPr id="4" name="Table 3">
            <a:extLst>
              <a:ext uri="{FF2B5EF4-FFF2-40B4-BE49-F238E27FC236}">
                <a16:creationId xmlns:a16="http://schemas.microsoft.com/office/drawing/2014/main" id="{691CF1CD-8366-B2CC-570E-2E86A0E2DDDF}"/>
              </a:ext>
            </a:extLst>
          </p:cNvPr>
          <p:cNvGraphicFramePr>
            <a:graphicFrameLocks noGrp="1"/>
          </p:cNvGraphicFramePr>
          <p:nvPr>
            <p:extLst>
              <p:ext uri="{D42A27DB-BD31-4B8C-83A1-F6EECF244321}">
                <p14:modId xmlns:p14="http://schemas.microsoft.com/office/powerpoint/2010/main" val="3039967600"/>
              </p:ext>
            </p:extLst>
          </p:nvPr>
        </p:nvGraphicFramePr>
        <p:xfrm>
          <a:off x="838200" y="2798570"/>
          <a:ext cx="5055973" cy="1574165"/>
        </p:xfrm>
        <a:graphic>
          <a:graphicData uri="http://schemas.openxmlformats.org/drawingml/2006/table">
            <a:tbl>
              <a:tblPr/>
              <a:tblGrid>
                <a:gridCol w="5055973">
                  <a:extLst>
                    <a:ext uri="{9D8B030D-6E8A-4147-A177-3AD203B41FA5}">
                      <a16:colId xmlns:a16="http://schemas.microsoft.com/office/drawing/2014/main" val="3357663749"/>
                    </a:ext>
                  </a:extLst>
                </a:gridCol>
              </a:tblGrid>
              <a:tr h="203200">
                <a:tc>
                  <a:txBody>
                    <a:bodyPr/>
                    <a:lstStyle/>
                    <a:p>
                      <a:pPr algn="l" fontAlgn="b">
                        <a:buNone/>
                      </a:pPr>
                      <a:r>
                        <a:rPr lang="en-CA" sz="1200" b="0" i="0" u="none" strike="noStrike">
                          <a:solidFill>
                            <a:srgbClr val="000000"/>
                          </a:solidFill>
                          <a:effectLst/>
                          <a:latin typeface="Aptos Narrow" panose="020B0004020202020204" pitchFamily="34" charset="0"/>
                        </a:rPr>
                        <a:t>Polymer-Degradation // Carbohydrates-Degradation // Glycan-Pathways</a:t>
                      </a:r>
                    </a:p>
                  </a:txBody>
                  <a:tcPr marL="9525" marR="9525" marT="9525" marB="0" anchor="b">
                    <a:lnL>
                      <a:noFill/>
                    </a:lnL>
                    <a:lnR>
                      <a:noFill/>
                    </a:lnR>
                    <a:lnT>
                      <a:noFill/>
                    </a:lnT>
                    <a:lnB>
                      <a:noFill/>
                    </a:lnB>
                    <a:noFill/>
                  </a:tcPr>
                </a:tc>
                <a:extLst>
                  <a:ext uri="{0D108BD9-81ED-4DB2-BD59-A6C34878D82A}">
                    <a16:rowId xmlns:a16="http://schemas.microsoft.com/office/drawing/2014/main" val="1657898827"/>
                  </a:ext>
                </a:extLst>
              </a:tr>
              <a:tr h="203200">
                <a:tc>
                  <a:txBody>
                    <a:bodyPr/>
                    <a:lstStyle/>
                    <a:p>
                      <a:pPr algn="l" fontAlgn="b">
                        <a:buNone/>
                      </a:pPr>
                      <a:r>
                        <a:rPr lang="en-CA" sz="1200" b="0" i="0" u="none" strike="noStrike" dirty="0">
                          <a:solidFill>
                            <a:srgbClr val="000000"/>
                          </a:solidFill>
                          <a:effectLst/>
                          <a:latin typeface="Aptos Narrow" panose="020B0004020202020204" pitchFamily="34" charset="0"/>
                        </a:rPr>
                        <a:t>Noncarbon-Nutrients</a:t>
                      </a:r>
                    </a:p>
                  </a:txBody>
                  <a:tcPr marL="9525" marR="9525" marT="9525" marB="0" anchor="b">
                    <a:lnL>
                      <a:noFill/>
                    </a:lnL>
                    <a:lnR>
                      <a:noFill/>
                    </a:lnR>
                    <a:lnT>
                      <a:noFill/>
                    </a:lnT>
                    <a:lnB>
                      <a:noFill/>
                    </a:lnB>
                    <a:noFill/>
                  </a:tcPr>
                </a:tc>
                <a:extLst>
                  <a:ext uri="{0D108BD9-81ED-4DB2-BD59-A6C34878D82A}">
                    <a16:rowId xmlns:a16="http://schemas.microsoft.com/office/drawing/2014/main" val="924167596"/>
                  </a:ext>
                </a:extLst>
              </a:tr>
              <a:tr h="203200">
                <a:tc>
                  <a:txBody>
                    <a:bodyPr/>
                    <a:lstStyle/>
                    <a:p>
                      <a:pPr algn="l" fontAlgn="b">
                        <a:buNone/>
                      </a:pPr>
                      <a:r>
                        <a:rPr lang="en-CA" sz="1200" b="0" i="0" u="none" strike="noStrike" dirty="0">
                          <a:solidFill>
                            <a:srgbClr val="000000"/>
                          </a:solidFill>
                          <a:effectLst/>
                          <a:latin typeface="Aptos Narrow" panose="020B0004020202020204" pitchFamily="34" charset="0"/>
                        </a:rPr>
                        <a:t>Inorganic nutrients</a:t>
                      </a:r>
                    </a:p>
                  </a:txBody>
                  <a:tcPr marL="9525" marR="9525" marT="9525" marB="0" anchor="b">
                    <a:lnL>
                      <a:noFill/>
                    </a:lnL>
                    <a:lnR>
                      <a:noFill/>
                    </a:lnR>
                    <a:lnT>
                      <a:noFill/>
                    </a:lnT>
                    <a:lnB>
                      <a:noFill/>
                    </a:lnB>
                    <a:noFill/>
                  </a:tcPr>
                </a:tc>
                <a:extLst>
                  <a:ext uri="{0D108BD9-81ED-4DB2-BD59-A6C34878D82A}">
                    <a16:rowId xmlns:a16="http://schemas.microsoft.com/office/drawing/2014/main" val="1988715010"/>
                  </a:ext>
                </a:extLst>
              </a:tr>
              <a:tr h="203200">
                <a:tc>
                  <a:txBody>
                    <a:bodyPr/>
                    <a:lstStyle/>
                    <a:p>
                      <a:pPr algn="l" fontAlgn="b">
                        <a:buNone/>
                      </a:pPr>
                      <a:r>
                        <a:rPr lang="en-CA" sz="1200" b="0" i="0" u="none" strike="noStrike" dirty="0" err="1">
                          <a:solidFill>
                            <a:srgbClr val="000000"/>
                          </a:solidFill>
                          <a:effectLst/>
                          <a:latin typeface="Aptos Narrow" panose="020B0004020202020204" pitchFamily="34" charset="0"/>
                        </a:rPr>
                        <a:t>Noncarb</a:t>
                      </a:r>
                      <a:r>
                        <a:rPr lang="en-CA" sz="1200" b="0" i="0" u="none" strike="noStrike" dirty="0">
                          <a:solidFill>
                            <a:srgbClr val="000000"/>
                          </a:solidFill>
                          <a:effectLst/>
                          <a:latin typeface="Aptos Narrow" panose="020B0004020202020204" pitchFamily="34" charset="0"/>
                        </a:rPr>
                        <a:t> nutrients</a:t>
                      </a:r>
                    </a:p>
                  </a:txBody>
                  <a:tcPr marL="9525" marR="9525" marT="9525" marB="0" anchor="b">
                    <a:lnL>
                      <a:noFill/>
                    </a:lnL>
                    <a:lnR>
                      <a:noFill/>
                    </a:lnR>
                    <a:lnT>
                      <a:noFill/>
                    </a:lnT>
                    <a:lnB>
                      <a:noFill/>
                    </a:lnB>
                    <a:noFill/>
                  </a:tcPr>
                </a:tc>
                <a:extLst>
                  <a:ext uri="{0D108BD9-81ED-4DB2-BD59-A6C34878D82A}">
                    <a16:rowId xmlns:a16="http://schemas.microsoft.com/office/drawing/2014/main" val="541767120"/>
                  </a:ext>
                </a:extLst>
              </a:tr>
              <a:tr h="203200">
                <a:tc>
                  <a:txBody>
                    <a:bodyPr/>
                    <a:lstStyle/>
                    <a:p>
                      <a:pPr algn="l" fontAlgn="b">
                        <a:buNone/>
                      </a:pPr>
                      <a:r>
                        <a:rPr lang="en-CA" sz="1200" b="0" i="0" u="none" strike="noStrike" dirty="0">
                          <a:solidFill>
                            <a:srgbClr val="000000"/>
                          </a:solidFill>
                          <a:effectLst/>
                          <a:latin typeface="Aptos Narrow" panose="020B0004020202020204" pitchFamily="34" charset="0"/>
                        </a:rPr>
                        <a:t>Noncarbon-Nutrients</a:t>
                      </a:r>
                    </a:p>
                  </a:txBody>
                  <a:tcPr marL="9525" marR="9525" marT="9525" marB="0" anchor="b">
                    <a:lnL>
                      <a:noFill/>
                    </a:lnL>
                    <a:lnR>
                      <a:noFill/>
                    </a:lnR>
                    <a:lnT>
                      <a:noFill/>
                    </a:lnT>
                    <a:lnB>
                      <a:noFill/>
                    </a:lnB>
                    <a:noFill/>
                  </a:tcPr>
                </a:tc>
                <a:extLst>
                  <a:ext uri="{0D108BD9-81ED-4DB2-BD59-A6C34878D82A}">
                    <a16:rowId xmlns:a16="http://schemas.microsoft.com/office/drawing/2014/main" val="3923021293"/>
                  </a:ext>
                </a:extLst>
              </a:tr>
              <a:tr h="203200">
                <a:tc>
                  <a:txBody>
                    <a:bodyPr/>
                    <a:lstStyle/>
                    <a:p>
                      <a:pPr algn="l" fontAlgn="b">
                        <a:buNone/>
                      </a:pPr>
                      <a:r>
                        <a:rPr lang="en-CA" sz="1200" b="0" i="0" u="none" strike="noStrike" dirty="0">
                          <a:solidFill>
                            <a:srgbClr val="000000"/>
                          </a:solidFill>
                          <a:effectLst/>
                          <a:latin typeface="Aptos Narrow" panose="020B0004020202020204" pitchFamily="34" charset="0"/>
                        </a:rPr>
                        <a:t>Energy-Metabolism</a:t>
                      </a:r>
                    </a:p>
                    <a:p>
                      <a:pPr algn="l" fontAlgn="b">
                        <a:buNone/>
                      </a:pPr>
                      <a:r>
                        <a:rPr lang="en-CA" sz="1200" b="0" i="0" u="none" strike="noStrike" dirty="0">
                          <a:solidFill>
                            <a:srgbClr val="000000"/>
                          </a:solidFill>
                          <a:effectLst/>
                          <a:latin typeface="Aptos Narrow" panose="020B0004020202020204" pitchFamily="34" charset="0"/>
                        </a:rPr>
                        <a:t>SECONDARY METABOLITE DEG</a:t>
                      </a:r>
                    </a:p>
                    <a:p>
                      <a:pPr algn="l" fontAlgn="b">
                        <a:buNone/>
                      </a:pPr>
                      <a:r>
                        <a:rPr lang="en-CA" sz="1200" b="0" i="0" u="none" strike="noStrike" dirty="0" err="1">
                          <a:solidFill>
                            <a:srgbClr val="000000"/>
                          </a:solidFill>
                          <a:effectLst/>
                          <a:latin typeface="Aptos Narrow" panose="020B0004020202020204" pitchFamily="34" charset="0"/>
                        </a:rPr>
                        <a:t>Superpathways</a:t>
                      </a:r>
                      <a:r>
                        <a:rPr lang="en-CA" sz="1200" b="0" i="0" u="none" strike="noStrike" dirty="0">
                          <a:solidFill>
                            <a:srgbClr val="000000"/>
                          </a:solidFill>
                          <a:effectLst/>
                          <a:latin typeface="Aptos Narrow" panose="020B0004020202020204" pitchFamily="34" charset="0"/>
                        </a:rPr>
                        <a:t> // </a:t>
                      </a:r>
                      <a:r>
                        <a:rPr lang="en-CA" sz="1200" b="0" i="0" u="none" strike="noStrike" dirty="0" err="1">
                          <a:solidFill>
                            <a:srgbClr val="000000"/>
                          </a:solidFill>
                          <a:effectLst/>
                          <a:latin typeface="Aptos Narrow" panose="020B0004020202020204" pitchFamily="34" charset="0"/>
                        </a:rPr>
                        <a:t>Degra</a:t>
                      </a:r>
                      <a:r>
                        <a:rPr lang="en-CA" sz="1200" b="0" i="0" u="none" strike="noStrike" dirty="0">
                          <a:solidFill>
                            <a:srgbClr val="000000"/>
                          </a:solidFill>
                          <a:effectLst/>
                          <a:latin typeface="Aptos Narrow" panose="020B0004020202020204" pitchFamily="34" charset="0"/>
                        </a:rPr>
                        <a:t>/</a:t>
                      </a:r>
                      <a:r>
                        <a:rPr lang="en-CA" sz="1200" b="0" i="0" u="none" strike="noStrike" dirty="0" err="1">
                          <a:solidFill>
                            <a:srgbClr val="000000"/>
                          </a:solidFill>
                          <a:effectLst/>
                          <a:latin typeface="Aptos Narrow" panose="020B0004020202020204" pitchFamily="34" charset="0"/>
                        </a:rPr>
                        <a:t>assimil</a:t>
                      </a:r>
                      <a:r>
                        <a:rPr lang="en-CA" sz="1200" b="0" i="0" u="none" strike="noStrike" dirty="0">
                          <a:solidFill>
                            <a:srgbClr val="000000"/>
                          </a:solidFill>
                          <a:effectLst/>
                          <a:latin typeface="Aptos Narrow" panose="020B0004020202020204" pitchFamily="34" charset="0"/>
                        </a:rPr>
                        <a:t>/</a:t>
                      </a:r>
                    </a:p>
                  </a:txBody>
                  <a:tcPr marL="9525" marR="9525" marT="9525" marB="0" anchor="b">
                    <a:lnL>
                      <a:noFill/>
                    </a:lnL>
                    <a:lnR>
                      <a:noFill/>
                    </a:lnR>
                    <a:lnT>
                      <a:noFill/>
                    </a:lnT>
                    <a:lnB>
                      <a:noFill/>
                    </a:lnB>
                    <a:noFill/>
                  </a:tcPr>
                </a:tc>
                <a:extLst>
                  <a:ext uri="{0D108BD9-81ED-4DB2-BD59-A6C34878D82A}">
                    <a16:rowId xmlns:a16="http://schemas.microsoft.com/office/drawing/2014/main" val="3873786172"/>
                  </a:ext>
                </a:extLst>
              </a:tr>
            </a:tbl>
          </a:graphicData>
        </a:graphic>
      </p:graphicFrame>
    </p:spTree>
    <p:extLst>
      <p:ext uri="{BB962C8B-B14F-4D97-AF65-F5344CB8AC3E}">
        <p14:creationId xmlns:p14="http://schemas.microsoft.com/office/powerpoint/2010/main" val="724054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6DACD-9CF4-BE00-7C11-145E4FB42FB4}"/>
              </a:ext>
            </a:extLst>
          </p:cNvPr>
          <p:cNvSpPr>
            <a:spLocks noGrp="1"/>
          </p:cNvSpPr>
          <p:nvPr>
            <p:ph type="title"/>
          </p:nvPr>
        </p:nvSpPr>
        <p:spPr>
          <a:xfrm>
            <a:off x="88557" y="56413"/>
            <a:ext cx="10515600" cy="1325563"/>
          </a:xfrm>
        </p:spPr>
        <p:txBody>
          <a:bodyPr/>
          <a:lstStyle/>
          <a:p>
            <a:r>
              <a:rPr lang="en-US" dirty="0" err="1"/>
              <a:t>MinPath</a:t>
            </a:r>
            <a:r>
              <a:rPr lang="en-US" dirty="0"/>
              <a:t> Metabolic Pathways</a:t>
            </a:r>
          </a:p>
        </p:txBody>
      </p:sp>
      <p:pic>
        <p:nvPicPr>
          <p:cNvPr id="4" name="Picture 3">
            <a:extLst>
              <a:ext uri="{FF2B5EF4-FFF2-40B4-BE49-F238E27FC236}">
                <a16:creationId xmlns:a16="http://schemas.microsoft.com/office/drawing/2014/main" id="{29052F1C-7272-C050-0DE8-585765A855A2}"/>
              </a:ext>
            </a:extLst>
          </p:cNvPr>
          <p:cNvPicPr>
            <a:picLocks noChangeAspect="1"/>
          </p:cNvPicPr>
          <p:nvPr/>
        </p:nvPicPr>
        <p:blipFill>
          <a:blip r:embed="rId2"/>
          <a:srcRect r="30261"/>
          <a:stretch>
            <a:fillRect/>
          </a:stretch>
        </p:blipFill>
        <p:spPr>
          <a:xfrm>
            <a:off x="88557" y="1690688"/>
            <a:ext cx="4189529" cy="4917932"/>
          </a:xfrm>
          <a:prstGeom prst="rect">
            <a:avLst/>
          </a:prstGeom>
        </p:spPr>
      </p:pic>
      <p:sp>
        <p:nvSpPr>
          <p:cNvPr id="5" name="TextBox 4">
            <a:extLst>
              <a:ext uri="{FF2B5EF4-FFF2-40B4-BE49-F238E27FC236}">
                <a16:creationId xmlns:a16="http://schemas.microsoft.com/office/drawing/2014/main" id="{8556E9D4-16E0-9EE3-D26B-AB87C8B3519F}"/>
              </a:ext>
            </a:extLst>
          </p:cNvPr>
          <p:cNvSpPr txBox="1"/>
          <p:nvPr/>
        </p:nvSpPr>
        <p:spPr>
          <a:xfrm>
            <a:off x="5296779" y="1525446"/>
            <a:ext cx="6895221" cy="4801314"/>
          </a:xfrm>
          <a:prstGeom prst="rect">
            <a:avLst/>
          </a:prstGeom>
          <a:noFill/>
        </p:spPr>
        <p:txBody>
          <a:bodyPr wrap="none" rtlCol="0">
            <a:spAutoFit/>
          </a:bodyPr>
          <a:lstStyle/>
          <a:p>
            <a:r>
              <a:rPr lang="en-US" dirty="0" err="1"/>
              <a:t>MetaCyc</a:t>
            </a:r>
            <a:r>
              <a:rPr lang="en-US" dirty="0"/>
              <a:t> Metabolic pathways are divided by </a:t>
            </a:r>
          </a:p>
          <a:p>
            <a:r>
              <a:rPr lang="en-US" dirty="0"/>
              <a:t>6 hierarchical levels:</a:t>
            </a:r>
          </a:p>
          <a:p>
            <a:endParaRPr lang="en-US" dirty="0"/>
          </a:p>
          <a:p>
            <a:pPr marL="285750" indent="-285750">
              <a:buFontTx/>
              <a:buChar char="-"/>
            </a:pPr>
            <a:r>
              <a:rPr lang="en-US" b="1" dirty="0"/>
              <a:t>Level 1:</a:t>
            </a:r>
          </a:p>
          <a:p>
            <a:pPr marL="742950" lvl="1" indent="-285750">
              <a:buFontTx/>
              <a:buChar char="-"/>
            </a:pPr>
            <a:r>
              <a:rPr lang="en-US" dirty="0"/>
              <a:t>Glycan pathways</a:t>
            </a:r>
          </a:p>
          <a:p>
            <a:pPr marL="742950" lvl="1" indent="-285750">
              <a:buFontTx/>
              <a:buChar char="-"/>
            </a:pPr>
            <a:r>
              <a:rPr lang="en-US" dirty="0"/>
              <a:t>Metabolite activation/inactivation/interconversion</a:t>
            </a:r>
          </a:p>
          <a:p>
            <a:pPr marL="742950" lvl="1" indent="-285750">
              <a:buFontTx/>
              <a:buChar char="-"/>
            </a:pPr>
            <a:r>
              <a:rPr lang="en-US" dirty="0"/>
              <a:t>Macromolecule modification</a:t>
            </a:r>
          </a:p>
          <a:p>
            <a:pPr marL="742950" lvl="1" indent="-285750">
              <a:buFontTx/>
              <a:buChar char="-"/>
            </a:pPr>
            <a:r>
              <a:rPr lang="en-US" dirty="0"/>
              <a:t>Detoxification</a:t>
            </a:r>
          </a:p>
          <a:p>
            <a:pPr marL="742950" lvl="1" indent="-285750">
              <a:buFontTx/>
              <a:buChar char="-"/>
            </a:pPr>
            <a:r>
              <a:rPr lang="en-US" dirty="0"/>
              <a:t>Transport</a:t>
            </a:r>
          </a:p>
          <a:p>
            <a:pPr marL="742950" lvl="1" indent="-285750">
              <a:buFontTx/>
              <a:buChar char="-"/>
            </a:pPr>
            <a:r>
              <a:rPr lang="en-US" dirty="0"/>
              <a:t>Bioluminescence/fluorescence/chromoprotein biosynthesis</a:t>
            </a:r>
          </a:p>
          <a:p>
            <a:pPr marL="742950" lvl="1" indent="-285750">
              <a:buFontTx/>
              <a:buChar char="-"/>
            </a:pPr>
            <a:r>
              <a:rPr lang="en-US" dirty="0"/>
              <a:t>Degradation/utilization/assimilation</a:t>
            </a:r>
          </a:p>
          <a:p>
            <a:pPr marL="742950" lvl="1" indent="-285750">
              <a:buFontTx/>
              <a:buChar char="-"/>
            </a:pPr>
            <a:r>
              <a:rPr lang="en-US" dirty="0" err="1"/>
              <a:t>Superpathways</a:t>
            </a:r>
            <a:endParaRPr lang="en-US" dirty="0"/>
          </a:p>
          <a:p>
            <a:pPr marL="742950" lvl="1" indent="-285750">
              <a:buFontTx/>
              <a:buChar char="-"/>
            </a:pPr>
            <a:r>
              <a:rPr lang="en-US" dirty="0"/>
              <a:t>Generation of precursor metabolites and energy</a:t>
            </a:r>
          </a:p>
          <a:p>
            <a:pPr marL="742950" lvl="1" indent="-285750">
              <a:buFontTx/>
              <a:buChar char="-"/>
            </a:pPr>
            <a:r>
              <a:rPr lang="en-US" dirty="0"/>
              <a:t>Metabolic clusters</a:t>
            </a:r>
          </a:p>
          <a:p>
            <a:pPr marL="742950" lvl="1" indent="-285750">
              <a:buFontTx/>
              <a:buChar char="-"/>
            </a:pPr>
            <a:r>
              <a:rPr lang="en-US" dirty="0"/>
              <a:t>Biosynthesis</a:t>
            </a:r>
          </a:p>
          <a:p>
            <a:endParaRPr lang="en-US" dirty="0"/>
          </a:p>
          <a:p>
            <a:endParaRPr lang="en-US" dirty="0"/>
          </a:p>
        </p:txBody>
      </p:sp>
      <p:pic>
        <p:nvPicPr>
          <p:cNvPr id="6" name="Picture 5">
            <a:extLst>
              <a:ext uri="{FF2B5EF4-FFF2-40B4-BE49-F238E27FC236}">
                <a16:creationId xmlns:a16="http://schemas.microsoft.com/office/drawing/2014/main" id="{6BC6F813-205F-96B3-4AC0-65219E044D81}"/>
              </a:ext>
            </a:extLst>
          </p:cNvPr>
          <p:cNvPicPr>
            <a:picLocks noChangeAspect="1"/>
          </p:cNvPicPr>
          <p:nvPr/>
        </p:nvPicPr>
        <p:blipFill>
          <a:blip r:embed="rId2"/>
          <a:srcRect l="69739"/>
          <a:stretch>
            <a:fillRect/>
          </a:stretch>
        </p:blipFill>
        <p:spPr>
          <a:xfrm>
            <a:off x="3309258" y="1525446"/>
            <a:ext cx="1817914" cy="4917932"/>
          </a:xfrm>
          <a:prstGeom prst="rect">
            <a:avLst/>
          </a:prstGeom>
        </p:spPr>
      </p:pic>
    </p:spTree>
    <p:extLst>
      <p:ext uri="{BB962C8B-B14F-4D97-AF65-F5344CB8AC3E}">
        <p14:creationId xmlns:p14="http://schemas.microsoft.com/office/powerpoint/2010/main" val="3174186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D6C09-F1D9-8A34-A756-146E596AD08A}"/>
              </a:ext>
            </a:extLst>
          </p:cNvPr>
          <p:cNvSpPr>
            <a:spLocks noGrp="1"/>
          </p:cNvSpPr>
          <p:nvPr>
            <p:ph type="title"/>
          </p:nvPr>
        </p:nvSpPr>
        <p:spPr>
          <a:xfrm>
            <a:off x="0" y="142703"/>
            <a:ext cx="5612027" cy="1325563"/>
          </a:xfrm>
        </p:spPr>
        <p:txBody>
          <a:bodyPr/>
          <a:lstStyle/>
          <a:p>
            <a:r>
              <a:rPr lang="en-US" dirty="0"/>
              <a:t>PICRUSt2 Predicted Pathways (level 1)</a:t>
            </a:r>
          </a:p>
        </p:txBody>
      </p:sp>
      <p:pic>
        <p:nvPicPr>
          <p:cNvPr id="4" name="Picture 3">
            <a:extLst>
              <a:ext uri="{FF2B5EF4-FFF2-40B4-BE49-F238E27FC236}">
                <a16:creationId xmlns:a16="http://schemas.microsoft.com/office/drawing/2014/main" id="{7FC6DC45-E95F-DC80-578F-8E4956EB5F81}"/>
              </a:ext>
            </a:extLst>
          </p:cNvPr>
          <p:cNvPicPr>
            <a:picLocks noChangeAspect="1"/>
          </p:cNvPicPr>
          <p:nvPr/>
        </p:nvPicPr>
        <p:blipFill>
          <a:blip r:embed="rId2"/>
          <a:stretch>
            <a:fillRect/>
          </a:stretch>
        </p:blipFill>
        <p:spPr>
          <a:xfrm>
            <a:off x="5202195" y="232704"/>
            <a:ext cx="6989805" cy="6600807"/>
          </a:xfrm>
          <a:prstGeom prst="rect">
            <a:avLst/>
          </a:prstGeom>
        </p:spPr>
      </p:pic>
      <p:sp>
        <p:nvSpPr>
          <p:cNvPr id="5" name="TextBox 4">
            <a:extLst>
              <a:ext uri="{FF2B5EF4-FFF2-40B4-BE49-F238E27FC236}">
                <a16:creationId xmlns:a16="http://schemas.microsoft.com/office/drawing/2014/main" id="{6F7B6851-6271-ACDA-3B0A-2B2C58CC1B80}"/>
              </a:ext>
            </a:extLst>
          </p:cNvPr>
          <p:cNvSpPr txBox="1"/>
          <p:nvPr/>
        </p:nvSpPr>
        <p:spPr>
          <a:xfrm>
            <a:off x="402771" y="2231571"/>
            <a:ext cx="4463143" cy="2585323"/>
          </a:xfrm>
          <a:prstGeom prst="rect">
            <a:avLst/>
          </a:prstGeom>
          <a:noFill/>
        </p:spPr>
        <p:txBody>
          <a:bodyPr wrap="square" rtlCol="0">
            <a:spAutoFit/>
          </a:bodyPr>
          <a:lstStyle/>
          <a:p>
            <a:r>
              <a:rPr lang="en-US" dirty="0"/>
              <a:t>Visually similar to </a:t>
            </a:r>
            <a:r>
              <a:rPr lang="en-US" dirty="0" err="1"/>
              <a:t>Anvio’s</a:t>
            </a:r>
            <a:r>
              <a:rPr lang="en-US" dirty="0"/>
              <a:t> classification</a:t>
            </a:r>
          </a:p>
          <a:p>
            <a:endParaRPr lang="en-US" dirty="0"/>
          </a:p>
          <a:p>
            <a:pPr marL="285750" indent="-285750">
              <a:buFontTx/>
              <a:buChar char="-"/>
            </a:pPr>
            <a:r>
              <a:rPr lang="en-US" dirty="0"/>
              <a:t>Fishers exact test (or chi square) for binary classification (presence/absence)</a:t>
            </a:r>
          </a:p>
          <a:p>
            <a:pPr marL="285750" indent="-285750">
              <a:buFontTx/>
              <a:buChar char="-"/>
            </a:pPr>
            <a:endParaRPr lang="en-US" dirty="0"/>
          </a:p>
          <a:p>
            <a:pPr marL="285750" indent="-285750">
              <a:buFontTx/>
              <a:buChar char="-"/>
            </a:pPr>
            <a:r>
              <a:rPr lang="en-US" dirty="0"/>
              <a:t>Mann-Whitney for number of pathways per category per consortia</a:t>
            </a:r>
          </a:p>
          <a:p>
            <a:pPr marL="285750" indent="-285750">
              <a:buFontTx/>
              <a:buChar char="-"/>
            </a:pPr>
            <a:endParaRPr lang="en-US" dirty="0"/>
          </a:p>
          <a:p>
            <a:pPr marL="285750" indent="-285750">
              <a:buFontTx/>
              <a:buChar char="-"/>
            </a:pPr>
            <a:endParaRPr lang="en-US" dirty="0"/>
          </a:p>
        </p:txBody>
      </p:sp>
    </p:spTree>
    <p:extLst>
      <p:ext uri="{BB962C8B-B14F-4D97-AF65-F5344CB8AC3E}">
        <p14:creationId xmlns:p14="http://schemas.microsoft.com/office/powerpoint/2010/main" val="30664729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3987</TotalTime>
  <Words>324</Words>
  <Application>Microsoft Macintosh PowerPoint</Application>
  <PresentationFormat>Widescreen</PresentationFormat>
  <Paragraphs>71</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Aptos Narrow</vt:lpstr>
      <vt:lpstr>Arial</vt:lpstr>
      <vt:lpstr>Wingdings</vt:lpstr>
      <vt:lpstr>Office Theme</vt:lpstr>
      <vt:lpstr>MetaCyc 2026</vt:lpstr>
      <vt:lpstr>MetaCyc tables:</vt:lpstr>
      <vt:lpstr>MinPath (PICRUSt2 package)</vt:lpstr>
      <vt:lpstr>MetaCyc 2026 &amp; Have-some-pie</vt:lpstr>
      <vt:lpstr>MinPath output</vt:lpstr>
      <vt:lpstr>PowerPoint Presentation</vt:lpstr>
      <vt:lpstr>MetaCyc database curation</vt:lpstr>
      <vt:lpstr>MinPath Metabolic Pathways</vt:lpstr>
      <vt:lpstr>PICRUSt2 Predicted Pathways (level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Castaneda Mogollon</dc:creator>
  <cp:lastModifiedBy>Daniel Castaneda Mogollon</cp:lastModifiedBy>
  <cp:revision>3</cp:revision>
  <dcterms:created xsi:type="dcterms:W3CDTF">2026-02-06T05:43:30Z</dcterms:created>
  <dcterms:modified xsi:type="dcterms:W3CDTF">2026-02-23T00:29:21Z</dcterms:modified>
</cp:coreProperties>
</file>